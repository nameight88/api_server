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4" r:id="rId5"/>
    <p:sldId id="258" r:id="rId6"/>
    <p:sldId id="260" r:id="rId7"/>
    <p:sldId id="269" r:id="rId8"/>
    <p:sldId id="273" r:id="rId9"/>
    <p:sldId id="274" r:id="rId10"/>
    <p:sldId id="275" r:id="rId11"/>
    <p:sldId id="265" r:id="rId12"/>
    <p:sldId id="268" r:id="rId13"/>
    <p:sldId id="266" r:id="rId14"/>
    <p:sldId id="270" r:id="rId15"/>
    <p:sldId id="271" r:id="rId16"/>
    <p:sldId id="272" r:id="rId17"/>
    <p:sldId id="263" r:id="rId1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89CA7-D6AB-46F4-739C-FDD7D1A75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1C440D-B3CC-46A1-84F1-EA3C0B8E5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C87A2-495C-BDC8-939B-535EAB63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9D0C2-E85C-19EF-6816-57FD9DDD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6B909-4140-66E9-2B8F-93004742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3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7C4E7-FBFA-A30C-61F0-FB3C9A68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9BD00A-C8AF-5C24-B1FC-528AD025D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234274-536E-6F4E-A614-D2467E8B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9B2E1B-8C61-C910-FA72-C2829350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C7946-3497-34AF-E156-885ABAE1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2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36F97-D23D-285C-D739-116E5466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B1310B-2A14-272E-447E-CF49B0BC4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73A13-15E3-8C6A-15AC-3FE0D949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07C3F-43F0-1C71-DC65-6117DC24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DE28B-FC9B-C97B-371A-59B88F6B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69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55C27-CF6F-AE60-FF70-4E51185E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44B98-2FD9-B94D-306E-81F4D13A2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99D04-5132-FC28-BBBD-C570B5AB1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4D8C20-9AE3-78B1-3ACA-8992B1BD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FAA11E-C323-B81D-3121-9AE690BA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E1F544-FEEB-308F-F59B-2E1BD987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66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89D9B-8D25-030C-8EAA-653CF6B4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BEDB93-8E0B-3088-5F5C-E55F8C302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7F2594-2CB0-FE3F-3DB8-5874A46E5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CD8931-CD74-C53C-C989-5B1110EE2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C8D508-D42E-013C-4816-F2E89B8F6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68A4D3-26C2-46A6-912A-0D88DC30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BEA1A8-0603-381B-A65D-34211AA2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856EDD-10B9-74E2-B7CB-5D603A5A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75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267A5-FA60-9CBA-DDA3-E7406FA3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D6ECAB-7263-8100-BF97-144A8B3A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55F06B-2519-F6AF-CD57-C5B6389A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F17719-8863-23EA-10B5-35AD44C4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4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21664F-D24B-204A-C0C0-085F1B5F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38B28C-F225-5187-9240-55DBC0EA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11E18-C49F-9B20-C532-83503013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44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2B983-5500-2770-4B7D-07FAB606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F9724-2F94-3558-A421-9CC87F163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18899F-C235-5FA7-07AB-A948C8804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17F5C-D828-6B32-2287-5AFF05FB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92C7D6-E416-EBCE-B401-6445946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96F24C-6C9F-90F1-8EDC-2804671E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3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335B6-0F11-11FF-8DA0-812D6845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F12A32-11C7-6109-80F6-B93EA7B03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8F4B1-7959-8837-9514-498F4440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554955-29B2-5D70-F380-EB86C63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93658A-5E64-8FD2-0296-9CC85A93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0A9C3F-9CF5-7794-2BE9-376C70B2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86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AD3AB-5A8D-8C28-5806-E719973D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529061-315C-EBD4-E41D-E1C5D4B65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EEE44D-1B99-806C-39C1-C1875F26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9013C-061E-C25F-6D85-94329C70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2F4B15-BD72-84F1-FAA7-033621CA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86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4850BC-F889-7EDE-5C3E-B04A9ABAC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71472-D44A-0B8C-7952-504E7E098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DCE80-C2BA-FABC-E870-273D7D14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BBD9BB-58D7-DFD0-9773-FD24DEF0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054BC-D857-94A2-C26E-8BFD12F6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07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D3F161-F116-DF84-B072-13AFFEA0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93333-A3ED-A4CA-ACB3-AEFB962B8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3135A-4A8D-57BF-8441-0F6285DE6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D9B58-6EC8-4218-AD84-73576757243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3F567D-86A1-BFF6-8F0D-EE4EAEAB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C19825-E83F-7D93-E668-1719DBAF3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8AE03-8024-4E93-AC88-485E38AE6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20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33E9A-D6A6-638B-C10F-C71D1DD22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쿠팡</a:t>
            </a:r>
            <a:r>
              <a:rPr lang="ko-KR" altLang="en-US" dirty="0"/>
              <a:t> </a:t>
            </a:r>
            <a:r>
              <a:rPr lang="en-US" altLang="ko-KR" dirty="0"/>
              <a:t>Walk-Up </a:t>
            </a:r>
            <a:r>
              <a:rPr lang="ko-KR" altLang="en-US" dirty="0"/>
              <a:t>구성 및 논의사항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8FB337-2246-3747-835D-457725625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강전훈</a:t>
            </a:r>
          </a:p>
        </p:txBody>
      </p:sp>
    </p:spTree>
    <p:extLst>
      <p:ext uri="{BB962C8B-B14F-4D97-AF65-F5344CB8AC3E}">
        <p14:creationId xmlns:p14="http://schemas.microsoft.com/office/powerpoint/2010/main" val="40599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7352D05-D16C-0E19-6C91-890953FBE13E}"/>
              </a:ext>
            </a:extLst>
          </p:cNvPr>
          <p:cNvSpPr/>
          <p:nvPr/>
        </p:nvSpPr>
        <p:spPr>
          <a:xfrm>
            <a:off x="4027889" y="2428588"/>
            <a:ext cx="5567457" cy="22225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1A79CC-5481-F8B3-9E10-D56E0895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쿠박스</a:t>
            </a:r>
            <a:r>
              <a:rPr lang="ko-KR" altLang="en-US" dirty="0"/>
              <a:t> 시스템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8CC09-779C-E999-6D40-64DFD29A934B}"/>
              </a:ext>
            </a:extLst>
          </p:cNvPr>
          <p:cNvSpPr/>
          <p:nvPr/>
        </p:nvSpPr>
        <p:spPr>
          <a:xfrm>
            <a:off x="5415361" y="5033999"/>
            <a:ext cx="2407941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쿠박스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DB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95C0434-3631-C5DF-17BD-37141EAF9363}"/>
              </a:ext>
            </a:extLst>
          </p:cNvPr>
          <p:cNvCxnSpPr>
            <a:cxnSpLocks/>
          </p:cNvCxnSpPr>
          <p:nvPr/>
        </p:nvCxnSpPr>
        <p:spPr>
          <a:xfrm flipV="1">
            <a:off x="6796019" y="4533996"/>
            <a:ext cx="0" cy="500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73F446A-83A1-CDEB-A471-6F950FDDCBD9}"/>
              </a:ext>
            </a:extLst>
          </p:cNvPr>
          <p:cNvCxnSpPr>
            <a:cxnSpLocks/>
          </p:cNvCxnSpPr>
          <p:nvPr/>
        </p:nvCxnSpPr>
        <p:spPr>
          <a:xfrm>
            <a:off x="6391398" y="4549659"/>
            <a:ext cx="0" cy="502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55C708-D627-AB53-2578-9441639F7946}"/>
              </a:ext>
            </a:extLst>
          </p:cNvPr>
          <p:cNvSpPr/>
          <p:nvPr/>
        </p:nvSpPr>
        <p:spPr>
          <a:xfrm>
            <a:off x="1589814" y="4025521"/>
            <a:ext cx="1496266" cy="11759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Kiosk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E3FC14-EFD3-B91B-4157-9F5626B09897}"/>
              </a:ext>
            </a:extLst>
          </p:cNvPr>
          <p:cNvSpPr/>
          <p:nvPr/>
        </p:nvSpPr>
        <p:spPr>
          <a:xfrm>
            <a:off x="1590672" y="2418736"/>
            <a:ext cx="1496263" cy="1175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관리자 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3" name="그래픽 22" descr="남자 윤곽선">
            <a:extLst>
              <a:ext uri="{FF2B5EF4-FFF2-40B4-BE49-F238E27FC236}">
                <a16:creationId xmlns:a16="http://schemas.microsoft.com/office/drawing/2014/main" id="{38A09B95-32E8-E98C-C42A-2A655F5F5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419" y="2403135"/>
            <a:ext cx="914400" cy="91440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E1AD5DA-3CF8-87AB-4A7B-D6082B4701D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107482" y="4613473"/>
            <a:ext cx="4823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B72B3E-115C-6EB6-D95F-3146649F07A2}"/>
              </a:ext>
            </a:extLst>
          </p:cNvPr>
          <p:cNvSpPr/>
          <p:nvPr/>
        </p:nvSpPr>
        <p:spPr>
          <a:xfrm>
            <a:off x="85851" y="3342213"/>
            <a:ext cx="1153535" cy="32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Fulfiller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855E1D-B75A-0FF3-35B8-F75B91A75671}"/>
              </a:ext>
            </a:extLst>
          </p:cNvPr>
          <p:cNvSpPr/>
          <p:nvPr/>
        </p:nvSpPr>
        <p:spPr>
          <a:xfrm>
            <a:off x="5683308" y="4685396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쿼리전송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158C59-6F11-6CC5-3A5F-1B5266C65832}"/>
              </a:ext>
            </a:extLst>
          </p:cNvPr>
          <p:cNvSpPr/>
          <p:nvPr/>
        </p:nvSpPr>
        <p:spPr>
          <a:xfrm>
            <a:off x="6753304" y="4705661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7526EE-3E69-11D2-B1C6-67B4188BFA56}"/>
              </a:ext>
            </a:extLst>
          </p:cNvPr>
          <p:cNvSpPr/>
          <p:nvPr/>
        </p:nvSpPr>
        <p:spPr>
          <a:xfrm>
            <a:off x="4240609" y="2976888"/>
            <a:ext cx="1667833" cy="497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Kiosk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2C369B-643F-A386-822E-EEC2C041A9D5}"/>
              </a:ext>
            </a:extLst>
          </p:cNvPr>
          <p:cNvSpPr/>
          <p:nvPr/>
        </p:nvSpPr>
        <p:spPr>
          <a:xfrm>
            <a:off x="6155470" y="2976961"/>
            <a:ext cx="1667833" cy="495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Management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C1571-07A4-64F7-D0C8-744998095CD9}"/>
              </a:ext>
            </a:extLst>
          </p:cNvPr>
          <p:cNvSpPr/>
          <p:nvPr/>
        </p:nvSpPr>
        <p:spPr>
          <a:xfrm>
            <a:off x="4227851" y="3952578"/>
            <a:ext cx="3605201" cy="594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</a:t>
            </a:r>
            <a:r>
              <a:rPr lang="ko-KR" altLang="en-US" dirty="0">
                <a:solidFill>
                  <a:schemeClr val="tx1"/>
                </a:solidFill>
              </a:rPr>
              <a:t>및 </a:t>
            </a:r>
            <a:r>
              <a:rPr lang="ko-KR" altLang="en-US" dirty="0" err="1">
                <a:solidFill>
                  <a:schemeClr val="tx1"/>
                </a:solidFill>
              </a:rPr>
              <a:t>서비스나우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연동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EA7176-10E5-34BB-5109-D333DDDAFA9F}"/>
              </a:ext>
            </a:extLst>
          </p:cNvPr>
          <p:cNvSpPr/>
          <p:nvPr/>
        </p:nvSpPr>
        <p:spPr>
          <a:xfrm>
            <a:off x="4110061" y="2418736"/>
            <a:ext cx="1807470" cy="387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</a:rPr>
              <a:t>쿠박스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API </a:t>
            </a:r>
            <a:r>
              <a:rPr lang="ko-KR" altLang="en-US" b="1" dirty="0">
                <a:solidFill>
                  <a:schemeClr val="tx1"/>
                </a:solidFill>
              </a:rPr>
              <a:t>서버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255B0BC-62C9-A9CF-1A91-B88EDC86F670}"/>
              </a:ext>
            </a:extLst>
          </p:cNvPr>
          <p:cNvSpPr/>
          <p:nvPr/>
        </p:nvSpPr>
        <p:spPr>
          <a:xfrm>
            <a:off x="10383778" y="5101096"/>
            <a:ext cx="1645180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서비스나우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EBC26F-595E-49B1-37C7-B75C53305F91}"/>
              </a:ext>
            </a:extLst>
          </p:cNvPr>
          <p:cNvSpPr/>
          <p:nvPr/>
        </p:nvSpPr>
        <p:spPr>
          <a:xfrm>
            <a:off x="8080079" y="2971906"/>
            <a:ext cx="1348319" cy="1580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사원 </a:t>
            </a:r>
            <a:r>
              <a:rPr lang="en-US" altLang="ko-KR" dirty="0">
                <a:solidFill>
                  <a:schemeClr val="tx1"/>
                </a:solidFill>
              </a:rPr>
              <a:t>DB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동기화 모듈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786C840-123B-403D-B582-01755DC8D3A8}"/>
              </a:ext>
            </a:extLst>
          </p:cNvPr>
          <p:cNvSpPr/>
          <p:nvPr/>
        </p:nvSpPr>
        <p:spPr>
          <a:xfrm>
            <a:off x="10383778" y="3472551"/>
            <a:ext cx="1645181" cy="594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제네텍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0C7ADA49-1DC2-0CE7-0B7D-1BB5FE5D802C}"/>
              </a:ext>
            </a:extLst>
          </p:cNvPr>
          <p:cNvCxnSpPr>
            <a:cxnSpLocks/>
            <a:stCxn id="41" idx="2"/>
            <a:endCxn id="6" idx="3"/>
          </p:cNvCxnSpPr>
          <p:nvPr/>
        </p:nvCxnSpPr>
        <p:spPr>
          <a:xfrm rot="5400000">
            <a:off x="7872723" y="4502598"/>
            <a:ext cx="832097" cy="9309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983A02D-3F8D-9C20-4B7F-152B50A5C0D7}"/>
              </a:ext>
            </a:extLst>
          </p:cNvPr>
          <p:cNvSpPr/>
          <p:nvPr/>
        </p:nvSpPr>
        <p:spPr>
          <a:xfrm>
            <a:off x="7934726" y="6304323"/>
            <a:ext cx="708090" cy="36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</a:t>
            </a:r>
            <a:r>
              <a:rPr lang="ko-KR" altLang="en-US" sz="1000" dirty="0">
                <a:solidFill>
                  <a:schemeClr val="tx1"/>
                </a:solidFill>
              </a:rPr>
              <a:t> 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670A3C2-DF10-1110-E8E0-01F2ED95B267}"/>
              </a:ext>
            </a:extLst>
          </p:cNvPr>
          <p:cNvSpPr/>
          <p:nvPr/>
        </p:nvSpPr>
        <p:spPr>
          <a:xfrm>
            <a:off x="7928767" y="5764676"/>
            <a:ext cx="708090" cy="358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요청결과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A677CA2-DB7B-7BE5-7211-6F18C2DCBDC3}"/>
              </a:ext>
            </a:extLst>
          </p:cNvPr>
          <p:cNvSpPr/>
          <p:nvPr/>
        </p:nvSpPr>
        <p:spPr>
          <a:xfrm>
            <a:off x="9580205" y="3241380"/>
            <a:ext cx="708090" cy="36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</a:t>
            </a:r>
            <a:r>
              <a:rPr lang="ko-KR" altLang="en-US" sz="1000" dirty="0">
                <a:solidFill>
                  <a:schemeClr val="tx1"/>
                </a:solidFill>
              </a:rPr>
              <a:t> 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B82347C-DF5E-ACFA-149A-B5E6A40A81B3}"/>
              </a:ext>
            </a:extLst>
          </p:cNvPr>
          <p:cNvSpPr/>
          <p:nvPr/>
        </p:nvSpPr>
        <p:spPr>
          <a:xfrm>
            <a:off x="9573104" y="3833229"/>
            <a:ext cx="708090" cy="358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요청결과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FF93E66-35DA-C5D9-DD57-2EA0B169CA2D}"/>
              </a:ext>
            </a:extLst>
          </p:cNvPr>
          <p:cNvSpPr/>
          <p:nvPr/>
        </p:nvSpPr>
        <p:spPr>
          <a:xfrm>
            <a:off x="8780669" y="5148397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정보저장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3E8CE48-46CA-BA61-9984-C2143A3CBEFC}"/>
              </a:ext>
            </a:extLst>
          </p:cNvPr>
          <p:cNvCxnSpPr>
            <a:cxnSpLocks/>
          </p:cNvCxnSpPr>
          <p:nvPr/>
        </p:nvCxnSpPr>
        <p:spPr>
          <a:xfrm flipH="1">
            <a:off x="9428398" y="3888547"/>
            <a:ext cx="955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74F032E-3F88-4FA0-A232-9C8396227D44}"/>
              </a:ext>
            </a:extLst>
          </p:cNvPr>
          <p:cNvCxnSpPr>
            <a:cxnSpLocks/>
          </p:cNvCxnSpPr>
          <p:nvPr/>
        </p:nvCxnSpPr>
        <p:spPr>
          <a:xfrm>
            <a:off x="9428398" y="3655999"/>
            <a:ext cx="9558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F3877D9-BA91-E9C7-B32E-721FA98E507A}"/>
              </a:ext>
            </a:extLst>
          </p:cNvPr>
          <p:cNvSpPr/>
          <p:nvPr/>
        </p:nvSpPr>
        <p:spPr>
          <a:xfrm>
            <a:off x="3154100" y="4721042"/>
            <a:ext cx="708090" cy="231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항목선택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DA84762-51E9-511C-BA19-01BA4DC97A4E}"/>
              </a:ext>
            </a:extLst>
          </p:cNvPr>
          <p:cNvSpPr/>
          <p:nvPr/>
        </p:nvSpPr>
        <p:spPr>
          <a:xfrm>
            <a:off x="2803181" y="3704092"/>
            <a:ext cx="605234" cy="210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결과전송</a:t>
            </a: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FE8067D2-92AD-446B-AB52-7982C33FC5CF}"/>
              </a:ext>
            </a:extLst>
          </p:cNvPr>
          <p:cNvCxnSpPr>
            <a:cxnSpLocks/>
          </p:cNvCxnSpPr>
          <p:nvPr/>
        </p:nvCxnSpPr>
        <p:spPr>
          <a:xfrm flipV="1">
            <a:off x="5161858" y="3484637"/>
            <a:ext cx="3259" cy="470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29C6A14B-54E4-3296-78BB-A637F8D20F71}"/>
              </a:ext>
            </a:extLst>
          </p:cNvPr>
          <p:cNvCxnSpPr>
            <a:cxnSpLocks/>
          </p:cNvCxnSpPr>
          <p:nvPr/>
        </p:nvCxnSpPr>
        <p:spPr>
          <a:xfrm flipH="1">
            <a:off x="4871774" y="3484637"/>
            <a:ext cx="3770" cy="478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67C66449-DD51-A528-4582-CDED0359852A}"/>
              </a:ext>
            </a:extLst>
          </p:cNvPr>
          <p:cNvCxnSpPr>
            <a:cxnSpLocks/>
          </p:cNvCxnSpPr>
          <p:nvPr/>
        </p:nvCxnSpPr>
        <p:spPr>
          <a:xfrm flipV="1">
            <a:off x="7152310" y="3472551"/>
            <a:ext cx="3259" cy="470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D061174-2997-63CA-7170-3AB9D271ACFC}"/>
              </a:ext>
            </a:extLst>
          </p:cNvPr>
          <p:cNvCxnSpPr>
            <a:cxnSpLocks/>
          </p:cNvCxnSpPr>
          <p:nvPr/>
        </p:nvCxnSpPr>
        <p:spPr>
          <a:xfrm flipH="1">
            <a:off x="6834338" y="3483123"/>
            <a:ext cx="3770" cy="478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D4AF5BFC-C7F1-A191-B2D8-E9805C6A0055}"/>
              </a:ext>
            </a:extLst>
          </p:cNvPr>
          <p:cNvSpPr/>
          <p:nvPr/>
        </p:nvSpPr>
        <p:spPr>
          <a:xfrm>
            <a:off x="7122403" y="3599774"/>
            <a:ext cx="708090" cy="236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요청결과</a:t>
            </a:r>
          </a:p>
        </p:txBody>
      </p: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2E96EF74-E890-BD59-307F-590AFAC6DE61}"/>
              </a:ext>
            </a:extLst>
          </p:cNvPr>
          <p:cNvCxnSpPr>
            <a:cxnSpLocks/>
            <a:stCxn id="19" idx="0"/>
            <a:endCxn id="13" idx="0"/>
          </p:cNvCxnSpPr>
          <p:nvPr/>
        </p:nvCxnSpPr>
        <p:spPr>
          <a:xfrm rot="16200000" flipV="1">
            <a:off x="4384984" y="372557"/>
            <a:ext cx="558225" cy="4650583"/>
          </a:xfrm>
          <a:prstGeom prst="bentConnector3">
            <a:avLst>
              <a:gd name="adj1" fmla="val 1409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A29DB322-A5EF-A1DD-14DA-6BCCFA59B1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03771" y="206605"/>
            <a:ext cx="558224" cy="4985325"/>
          </a:xfrm>
          <a:prstGeom prst="bentConnector4">
            <a:avLst>
              <a:gd name="adj1" fmla="val -83169"/>
              <a:gd name="adj2" fmla="val 1000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C4D727FB-A234-CA14-4F75-90C29669878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6078" y="3113927"/>
            <a:ext cx="1154529" cy="1387636"/>
          </a:xfrm>
          <a:prstGeom prst="bentConnector3">
            <a:avLst>
              <a:gd name="adj1" fmla="val 712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연결선: 꺾임 183">
            <a:extLst>
              <a:ext uri="{FF2B5EF4-FFF2-40B4-BE49-F238E27FC236}">
                <a16:creationId xmlns:a16="http://schemas.microsoft.com/office/drawing/2014/main" id="{20710B6A-3D01-2EBA-F2C3-4FE0E6D7FD27}"/>
              </a:ext>
            </a:extLst>
          </p:cNvPr>
          <p:cNvCxnSpPr>
            <a:cxnSpLocks/>
          </p:cNvCxnSpPr>
          <p:nvPr/>
        </p:nvCxnSpPr>
        <p:spPr>
          <a:xfrm flipV="1">
            <a:off x="3093421" y="3319079"/>
            <a:ext cx="1154529" cy="13876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E24DA817-C17E-AFA7-8D49-5C6B00E86B30}"/>
              </a:ext>
            </a:extLst>
          </p:cNvPr>
          <p:cNvSpPr/>
          <p:nvPr/>
        </p:nvSpPr>
        <p:spPr>
          <a:xfrm>
            <a:off x="3205528" y="1690689"/>
            <a:ext cx="708090" cy="231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항목선택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9FC84600-10B2-AB6E-28A9-5C2608F72263}"/>
              </a:ext>
            </a:extLst>
          </p:cNvPr>
          <p:cNvSpPr/>
          <p:nvPr/>
        </p:nvSpPr>
        <p:spPr>
          <a:xfrm>
            <a:off x="3256956" y="2217594"/>
            <a:ext cx="605234" cy="210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결과전송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0C3B6A69-8087-6BCA-9212-1F59E4E1486A}"/>
              </a:ext>
            </a:extLst>
          </p:cNvPr>
          <p:cNvSpPr/>
          <p:nvPr/>
        </p:nvSpPr>
        <p:spPr>
          <a:xfrm>
            <a:off x="4132409" y="3536231"/>
            <a:ext cx="708090" cy="36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</a:t>
            </a:r>
            <a:r>
              <a:rPr lang="ko-KR" altLang="en-US" sz="1000" dirty="0">
                <a:solidFill>
                  <a:schemeClr val="tx1"/>
                </a:solidFill>
              </a:rPr>
              <a:t> 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17E82E5B-677C-BB3B-81C9-88A6DC0EED30}"/>
              </a:ext>
            </a:extLst>
          </p:cNvPr>
          <p:cNvSpPr/>
          <p:nvPr/>
        </p:nvSpPr>
        <p:spPr>
          <a:xfrm>
            <a:off x="6111295" y="3546068"/>
            <a:ext cx="708090" cy="36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</a:t>
            </a:r>
            <a:r>
              <a:rPr lang="ko-KR" altLang="en-US" sz="1000" dirty="0">
                <a:solidFill>
                  <a:schemeClr val="tx1"/>
                </a:solidFill>
              </a:rPr>
              <a:t> 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4509125-E151-F633-DDDC-6DD573C2258A}"/>
              </a:ext>
            </a:extLst>
          </p:cNvPr>
          <p:cNvSpPr/>
          <p:nvPr/>
        </p:nvSpPr>
        <p:spPr>
          <a:xfrm>
            <a:off x="5142484" y="3547759"/>
            <a:ext cx="708090" cy="358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요청결과</a:t>
            </a:r>
          </a:p>
        </p:txBody>
      </p:sp>
      <p:pic>
        <p:nvPicPr>
          <p:cNvPr id="209" name="그래픽 208" descr="남자 윤곽선">
            <a:extLst>
              <a:ext uri="{FF2B5EF4-FFF2-40B4-BE49-F238E27FC236}">
                <a16:creationId xmlns:a16="http://schemas.microsoft.com/office/drawing/2014/main" id="{D7E64AED-4471-AA13-A9B7-A1B182FF6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583" y="3951992"/>
            <a:ext cx="914400" cy="914400"/>
          </a:xfrm>
          <a:prstGeom prst="rect">
            <a:avLst/>
          </a:prstGeom>
        </p:spPr>
      </p:pic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52F24E8-D9C9-9291-9A05-CE890D91191A}"/>
              </a:ext>
            </a:extLst>
          </p:cNvPr>
          <p:cNvSpPr/>
          <p:nvPr/>
        </p:nvSpPr>
        <p:spPr>
          <a:xfrm>
            <a:off x="99015" y="4891070"/>
            <a:ext cx="1153535" cy="32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26D1F678-927B-A2D3-2617-5DB6EA6A666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107482" y="3006687"/>
            <a:ext cx="4831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C1098B41-90FB-8431-320A-1169D4A25EF8}"/>
              </a:ext>
            </a:extLst>
          </p:cNvPr>
          <p:cNvCxnSpPr>
            <a:cxnSpLocks/>
          </p:cNvCxnSpPr>
          <p:nvPr/>
        </p:nvCxnSpPr>
        <p:spPr>
          <a:xfrm>
            <a:off x="4809979" y="4542591"/>
            <a:ext cx="6524875" cy="1258736"/>
          </a:xfrm>
          <a:prstGeom prst="bentConnector4">
            <a:avLst>
              <a:gd name="adj1" fmla="val 210"/>
              <a:gd name="adj2" fmla="val 138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연결선: 꺾임 222">
            <a:extLst>
              <a:ext uri="{FF2B5EF4-FFF2-40B4-BE49-F238E27FC236}">
                <a16:creationId xmlns:a16="http://schemas.microsoft.com/office/drawing/2014/main" id="{DB2B2C57-3A5A-E5CA-2629-13FA805F82F9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 flipH="1">
            <a:off x="7564546" y="2159505"/>
            <a:ext cx="1254948" cy="6028696"/>
          </a:xfrm>
          <a:prstGeom prst="bentConnector4">
            <a:avLst>
              <a:gd name="adj1" fmla="val -24225"/>
              <a:gd name="adj2" fmla="val 999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1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쿠박스</a:t>
            </a:r>
            <a:r>
              <a:rPr lang="ko-KR" altLang="en-US" dirty="0"/>
              <a:t> 서버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쿠박스</a:t>
            </a:r>
            <a:r>
              <a:rPr lang="ko-KR" altLang="en-US" dirty="0"/>
              <a:t> 서버 환경</a:t>
            </a:r>
            <a:endParaRPr lang="en-US" altLang="ko-KR" dirty="0"/>
          </a:p>
          <a:p>
            <a:pPr lvl="1"/>
            <a:r>
              <a:rPr lang="en-US" altLang="ko-KR" dirty="0"/>
              <a:t>API </a:t>
            </a:r>
            <a:r>
              <a:rPr lang="ko-KR" altLang="en-US" dirty="0"/>
              <a:t>서버</a:t>
            </a:r>
            <a:endParaRPr lang="en-US" altLang="ko-KR" dirty="0"/>
          </a:p>
          <a:p>
            <a:pPr lvl="2"/>
            <a:r>
              <a:rPr lang="en-US" altLang="ko-KR" dirty="0"/>
              <a:t>OS: Windows Server 2022 Standard</a:t>
            </a:r>
          </a:p>
          <a:p>
            <a:pPr lvl="2"/>
            <a:r>
              <a:rPr lang="en-US" altLang="ko-KR" dirty="0"/>
              <a:t>IP: 10.50.120.146</a:t>
            </a:r>
          </a:p>
          <a:p>
            <a:pPr lvl="2"/>
            <a:r>
              <a:rPr lang="en-US" altLang="ko-KR" dirty="0"/>
              <a:t>Port: 3001, 443, 9001, 9002</a:t>
            </a:r>
          </a:p>
          <a:p>
            <a:pPr lvl="1"/>
            <a:r>
              <a:rPr lang="en-US" altLang="ko-KR" dirty="0"/>
              <a:t>Database </a:t>
            </a:r>
            <a:r>
              <a:rPr lang="ko-KR" altLang="en-US" dirty="0"/>
              <a:t>서버</a:t>
            </a:r>
            <a:endParaRPr lang="en-US" altLang="ko-KR" dirty="0"/>
          </a:p>
          <a:p>
            <a:pPr lvl="2"/>
            <a:r>
              <a:rPr lang="ko-KR" altLang="en-US" dirty="0"/>
              <a:t>종류</a:t>
            </a:r>
            <a:r>
              <a:rPr lang="en-US" altLang="ko-KR" dirty="0"/>
              <a:t>: MySQL</a:t>
            </a:r>
          </a:p>
          <a:p>
            <a:pPr lvl="2"/>
            <a:r>
              <a:rPr lang="en-US" altLang="ko-KR" dirty="0"/>
              <a:t>IP:</a:t>
            </a:r>
            <a:r>
              <a:rPr lang="ko-KR" altLang="en-US" dirty="0"/>
              <a:t> </a:t>
            </a:r>
            <a:r>
              <a:rPr lang="en-US" altLang="ko-KR" dirty="0"/>
              <a:t>10.50.150.146</a:t>
            </a:r>
          </a:p>
          <a:p>
            <a:pPr lvl="2"/>
            <a:r>
              <a:rPr lang="en-US" altLang="ko-KR" dirty="0"/>
              <a:t>Port: 33306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50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A79CC-5481-F8B3-9E10-D56E0895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</a:t>
            </a:r>
            <a:r>
              <a:rPr lang="ko-KR" altLang="en-US" dirty="0"/>
              <a:t>서버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서비스나우</a:t>
            </a:r>
            <a:r>
              <a:rPr lang="ko-KR" altLang="en-US" dirty="0"/>
              <a:t> </a:t>
            </a:r>
            <a:r>
              <a:rPr lang="en-US" altLang="ko-KR" dirty="0"/>
              <a:t>-&gt; Walk-Up API </a:t>
            </a:r>
            <a:r>
              <a:rPr lang="ko-KR" altLang="en-US" dirty="0"/>
              <a:t>서버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86965B-6335-8093-F88D-2D2332C03395}"/>
              </a:ext>
            </a:extLst>
          </p:cNvPr>
          <p:cNvSpPr/>
          <p:nvPr/>
        </p:nvSpPr>
        <p:spPr>
          <a:xfrm>
            <a:off x="6767645" y="2178947"/>
            <a:ext cx="2621107" cy="2160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E5CB7E-69A5-E109-309E-FCC204786403}"/>
              </a:ext>
            </a:extLst>
          </p:cNvPr>
          <p:cNvSpPr/>
          <p:nvPr/>
        </p:nvSpPr>
        <p:spPr>
          <a:xfrm>
            <a:off x="6767645" y="2178946"/>
            <a:ext cx="2621107" cy="557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쿠박스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 서버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8CC09-779C-E999-6D40-64DFD29A934B}"/>
              </a:ext>
            </a:extLst>
          </p:cNvPr>
          <p:cNvSpPr/>
          <p:nvPr/>
        </p:nvSpPr>
        <p:spPr>
          <a:xfrm>
            <a:off x="6767645" y="4847936"/>
            <a:ext cx="2621106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쿠박스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DB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352D05-D16C-0E19-6C91-890953FBE13E}"/>
              </a:ext>
            </a:extLst>
          </p:cNvPr>
          <p:cNvSpPr/>
          <p:nvPr/>
        </p:nvSpPr>
        <p:spPr>
          <a:xfrm>
            <a:off x="7074462" y="3208801"/>
            <a:ext cx="2007471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Walk-Up API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95C0434-3631-C5DF-17BD-37141EAF9363}"/>
              </a:ext>
            </a:extLst>
          </p:cNvPr>
          <p:cNvCxnSpPr>
            <a:cxnSpLocks/>
          </p:cNvCxnSpPr>
          <p:nvPr/>
        </p:nvCxnSpPr>
        <p:spPr>
          <a:xfrm flipV="1">
            <a:off x="8181128" y="3909032"/>
            <a:ext cx="0" cy="934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73F446A-83A1-CDEB-A471-6F950FDDCBD9}"/>
              </a:ext>
            </a:extLst>
          </p:cNvPr>
          <p:cNvCxnSpPr>
            <a:cxnSpLocks/>
          </p:cNvCxnSpPr>
          <p:nvPr/>
        </p:nvCxnSpPr>
        <p:spPr>
          <a:xfrm>
            <a:off x="7882779" y="3911919"/>
            <a:ext cx="0" cy="931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55C708-D627-AB53-2578-9441639F7946}"/>
              </a:ext>
            </a:extLst>
          </p:cNvPr>
          <p:cNvSpPr/>
          <p:nvPr/>
        </p:nvSpPr>
        <p:spPr>
          <a:xfrm>
            <a:off x="2678474" y="2177777"/>
            <a:ext cx="2621107" cy="11759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Card Tagging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E3FC14-EFD3-B91B-4157-9F5626B09897}"/>
              </a:ext>
            </a:extLst>
          </p:cNvPr>
          <p:cNvSpPr/>
          <p:nvPr/>
        </p:nvSpPr>
        <p:spPr>
          <a:xfrm>
            <a:off x="2678473" y="4051877"/>
            <a:ext cx="2621107" cy="14962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ServiceNow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C8F30F-7528-3469-34AF-1CB216CED1DA}"/>
              </a:ext>
            </a:extLst>
          </p:cNvPr>
          <p:cNvCxnSpPr>
            <a:cxnSpLocks/>
          </p:cNvCxnSpPr>
          <p:nvPr/>
        </p:nvCxnSpPr>
        <p:spPr>
          <a:xfrm>
            <a:off x="3755037" y="3350467"/>
            <a:ext cx="0" cy="701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5512D94-D5E7-726A-A924-231F6A7B126A}"/>
              </a:ext>
            </a:extLst>
          </p:cNvPr>
          <p:cNvCxnSpPr>
            <a:cxnSpLocks/>
          </p:cNvCxnSpPr>
          <p:nvPr/>
        </p:nvCxnSpPr>
        <p:spPr>
          <a:xfrm flipV="1">
            <a:off x="4205608" y="3355087"/>
            <a:ext cx="0" cy="696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래픽 22" descr="남자 윤곽선">
            <a:extLst>
              <a:ext uri="{FF2B5EF4-FFF2-40B4-BE49-F238E27FC236}">
                <a16:creationId xmlns:a16="http://schemas.microsoft.com/office/drawing/2014/main" id="{38A09B95-32E8-E98C-C42A-2A655F5F5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02" y="2177777"/>
            <a:ext cx="914400" cy="91440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E1AD5DA-3CF8-87AB-4A7B-D6082B4701D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970384" y="2765729"/>
            <a:ext cx="7080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B72B3E-115C-6EB6-D95F-3146649F07A2}"/>
              </a:ext>
            </a:extLst>
          </p:cNvPr>
          <p:cNvSpPr/>
          <p:nvPr/>
        </p:nvSpPr>
        <p:spPr>
          <a:xfrm>
            <a:off x="1007734" y="3116855"/>
            <a:ext cx="1153535" cy="32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6473322-D27F-229C-BD2C-5BF8A9958E24}"/>
              </a:ext>
            </a:extLst>
          </p:cNvPr>
          <p:cNvSpPr/>
          <p:nvPr/>
        </p:nvSpPr>
        <p:spPr>
          <a:xfrm>
            <a:off x="5387910" y="4228382"/>
            <a:ext cx="708090" cy="365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 </a:t>
            </a:r>
            <a:r>
              <a:rPr lang="ko-KR" altLang="en-US" sz="1000" dirty="0">
                <a:solidFill>
                  <a:schemeClr val="tx1"/>
                </a:solidFill>
              </a:rPr>
              <a:t>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69B513-CF8A-01EA-FAC2-51C625810DE2}"/>
              </a:ext>
            </a:extLst>
          </p:cNvPr>
          <p:cNvSpPr/>
          <p:nvPr/>
        </p:nvSpPr>
        <p:spPr>
          <a:xfrm>
            <a:off x="5415763" y="4996129"/>
            <a:ext cx="605234" cy="210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결과전송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855E1D-B75A-0FF3-35B8-F75B91A75671}"/>
              </a:ext>
            </a:extLst>
          </p:cNvPr>
          <p:cNvSpPr/>
          <p:nvPr/>
        </p:nvSpPr>
        <p:spPr>
          <a:xfrm>
            <a:off x="7171947" y="4462670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쿼리전송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158C59-6F11-6CC5-3A5F-1B5266C65832}"/>
              </a:ext>
            </a:extLst>
          </p:cNvPr>
          <p:cNvSpPr/>
          <p:nvPr/>
        </p:nvSpPr>
        <p:spPr>
          <a:xfrm>
            <a:off x="8175642" y="4462671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쿼리결과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48B7985-0065-4CD5-F156-155065224310}"/>
              </a:ext>
            </a:extLst>
          </p:cNvPr>
          <p:cNvSpPr/>
          <p:nvPr/>
        </p:nvSpPr>
        <p:spPr>
          <a:xfrm>
            <a:off x="3076190" y="3558916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Card </a:t>
            </a:r>
            <a:r>
              <a:rPr lang="ko-KR" altLang="en-US" sz="1000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D6F232A-00BB-268F-5EF8-794001A7BE79}"/>
              </a:ext>
            </a:extLst>
          </p:cNvPr>
          <p:cNvSpPr/>
          <p:nvPr/>
        </p:nvSpPr>
        <p:spPr>
          <a:xfrm>
            <a:off x="4205608" y="3560322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처리결과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78C42C-4A96-D909-7E53-A5F1A7EE6627}"/>
              </a:ext>
            </a:extLst>
          </p:cNvPr>
          <p:cNvSpPr/>
          <p:nvPr/>
        </p:nvSpPr>
        <p:spPr>
          <a:xfrm>
            <a:off x="1970384" y="2458964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Card Tag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2E00DD2-55D9-9EE1-02FF-AF010D08CEF1}"/>
              </a:ext>
            </a:extLst>
          </p:cNvPr>
          <p:cNvCxnSpPr>
            <a:cxnSpLocks/>
          </p:cNvCxnSpPr>
          <p:nvPr/>
        </p:nvCxnSpPr>
        <p:spPr>
          <a:xfrm flipV="1">
            <a:off x="5299580" y="3389750"/>
            <a:ext cx="1774882" cy="124110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D5051776-E0D3-4D6B-EB73-AEF93265A9D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6217" y="3718954"/>
            <a:ext cx="1774882" cy="1241105"/>
          </a:xfrm>
          <a:prstGeom prst="bentConnector3">
            <a:avLst>
              <a:gd name="adj1" fmla="val 356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A79CC-5481-F8B3-9E10-D56E0895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Walk-Up </a:t>
            </a:r>
            <a:r>
              <a:rPr lang="ko-KR" altLang="en-US" dirty="0"/>
              <a:t>서버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br>
              <a:rPr lang="en-US" altLang="ko-KR" dirty="0"/>
            </a:br>
            <a:r>
              <a:rPr lang="en-US" altLang="ko-KR" dirty="0"/>
              <a:t>(Agent(</a:t>
            </a:r>
            <a:r>
              <a:rPr lang="ko-KR" altLang="en-US" dirty="0"/>
              <a:t>브라우저 확장프로그램</a:t>
            </a:r>
            <a:r>
              <a:rPr lang="en-US" altLang="ko-KR" dirty="0"/>
              <a:t>) </a:t>
            </a:r>
            <a:r>
              <a:rPr lang="ko-KR" altLang="en-US" dirty="0"/>
              <a:t>이용방안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86965B-6335-8093-F88D-2D2332C03395}"/>
              </a:ext>
            </a:extLst>
          </p:cNvPr>
          <p:cNvSpPr/>
          <p:nvPr/>
        </p:nvSpPr>
        <p:spPr>
          <a:xfrm>
            <a:off x="7377245" y="2289783"/>
            <a:ext cx="2621107" cy="2160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E5CB7E-69A5-E109-309E-FCC204786403}"/>
              </a:ext>
            </a:extLst>
          </p:cNvPr>
          <p:cNvSpPr/>
          <p:nvPr/>
        </p:nvSpPr>
        <p:spPr>
          <a:xfrm>
            <a:off x="7377245" y="2289782"/>
            <a:ext cx="2621107" cy="557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쿠박스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 서버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8CC09-779C-E999-6D40-64DFD29A934B}"/>
              </a:ext>
            </a:extLst>
          </p:cNvPr>
          <p:cNvSpPr/>
          <p:nvPr/>
        </p:nvSpPr>
        <p:spPr>
          <a:xfrm>
            <a:off x="7377245" y="4958772"/>
            <a:ext cx="2621106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쿠박스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DB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352D05-D16C-0E19-6C91-890953FBE13E}"/>
              </a:ext>
            </a:extLst>
          </p:cNvPr>
          <p:cNvSpPr/>
          <p:nvPr/>
        </p:nvSpPr>
        <p:spPr>
          <a:xfrm>
            <a:off x="7684062" y="3319637"/>
            <a:ext cx="2007471" cy="700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Walk-Up API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95C0434-3631-C5DF-17BD-37141EAF9363}"/>
              </a:ext>
            </a:extLst>
          </p:cNvPr>
          <p:cNvCxnSpPr>
            <a:cxnSpLocks/>
          </p:cNvCxnSpPr>
          <p:nvPr/>
        </p:nvCxnSpPr>
        <p:spPr>
          <a:xfrm flipV="1">
            <a:off x="8790728" y="4019868"/>
            <a:ext cx="0" cy="934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73F446A-83A1-CDEB-A471-6F950FDDCBD9}"/>
              </a:ext>
            </a:extLst>
          </p:cNvPr>
          <p:cNvCxnSpPr>
            <a:cxnSpLocks/>
          </p:cNvCxnSpPr>
          <p:nvPr/>
        </p:nvCxnSpPr>
        <p:spPr>
          <a:xfrm>
            <a:off x="8492379" y="4022755"/>
            <a:ext cx="0" cy="931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55C708-D627-AB53-2578-9441639F7946}"/>
              </a:ext>
            </a:extLst>
          </p:cNvPr>
          <p:cNvSpPr/>
          <p:nvPr/>
        </p:nvSpPr>
        <p:spPr>
          <a:xfrm>
            <a:off x="4308572" y="2319959"/>
            <a:ext cx="1597865" cy="11759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Card Tagging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E3FC14-EFD3-B91B-4157-9F5626B09897}"/>
              </a:ext>
            </a:extLst>
          </p:cNvPr>
          <p:cNvSpPr/>
          <p:nvPr/>
        </p:nvSpPr>
        <p:spPr>
          <a:xfrm>
            <a:off x="1802601" y="4162713"/>
            <a:ext cx="1597866" cy="14962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ServiceNow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(Browser)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C8F30F-7528-3469-34AF-1CB216CED1D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5107505" y="3495862"/>
            <a:ext cx="0" cy="666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5512D94-D5E7-726A-A924-231F6A7B126A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3400467" y="4910858"/>
            <a:ext cx="9081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래픽 22" descr="남자 윤곽선">
            <a:extLst>
              <a:ext uri="{FF2B5EF4-FFF2-40B4-BE49-F238E27FC236}">
                <a16:creationId xmlns:a16="http://schemas.microsoft.com/office/drawing/2014/main" id="{38A09B95-32E8-E98C-C42A-2A655F5F5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562" y="2319959"/>
            <a:ext cx="914400" cy="91440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E1AD5DA-3CF8-87AB-4A7B-D6082B4701D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038764" y="2907911"/>
            <a:ext cx="12698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B72B3E-115C-6EB6-D95F-3146649F07A2}"/>
              </a:ext>
            </a:extLst>
          </p:cNvPr>
          <p:cNvSpPr/>
          <p:nvPr/>
        </p:nvSpPr>
        <p:spPr>
          <a:xfrm>
            <a:off x="2038994" y="3259037"/>
            <a:ext cx="1153535" cy="32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6473322-D27F-229C-BD2C-5BF8A9958E24}"/>
              </a:ext>
            </a:extLst>
          </p:cNvPr>
          <p:cNvSpPr/>
          <p:nvPr/>
        </p:nvSpPr>
        <p:spPr>
          <a:xfrm>
            <a:off x="5997510" y="4339218"/>
            <a:ext cx="708090" cy="365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 </a:t>
            </a:r>
            <a:r>
              <a:rPr lang="ko-KR" altLang="en-US" sz="1000" dirty="0">
                <a:solidFill>
                  <a:schemeClr val="tx1"/>
                </a:solidFill>
              </a:rPr>
              <a:t>호출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정보요청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69B513-CF8A-01EA-FAC2-51C625810DE2}"/>
              </a:ext>
            </a:extLst>
          </p:cNvPr>
          <p:cNvSpPr/>
          <p:nvPr/>
        </p:nvSpPr>
        <p:spPr>
          <a:xfrm>
            <a:off x="6025363" y="5106965"/>
            <a:ext cx="605234" cy="210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결과전송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855E1D-B75A-0FF3-35B8-F75B91A75671}"/>
              </a:ext>
            </a:extLst>
          </p:cNvPr>
          <p:cNvSpPr/>
          <p:nvPr/>
        </p:nvSpPr>
        <p:spPr>
          <a:xfrm>
            <a:off x="7781547" y="4573506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쿼리전송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158C59-6F11-6CC5-3A5F-1B5266C65832}"/>
              </a:ext>
            </a:extLst>
          </p:cNvPr>
          <p:cNvSpPr/>
          <p:nvPr/>
        </p:nvSpPr>
        <p:spPr>
          <a:xfrm>
            <a:off x="8785242" y="4573507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쿼리결과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48B7985-0065-4CD5-F156-155065224310}"/>
              </a:ext>
            </a:extLst>
          </p:cNvPr>
          <p:cNvSpPr/>
          <p:nvPr/>
        </p:nvSpPr>
        <p:spPr>
          <a:xfrm>
            <a:off x="4319195" y="3697582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Card </a:t>
            </a:r>
            <a:r>
              <a:rPr lang="ko-KR" altLang="en-US" sz="1000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D6F232A-00BB-268F-5EF8-794001A7BE79}"/>
              </a:ext>
            </a:extLst>
          </p:cNvPr>
          <p:cNvSpPr/>
          <p:nvPr/>
        </p:nvSpPr>
        <p:spPr>
          <a:xfrm>
            <a:off x="3500694" y="4634860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처리결과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78C42C-4A96-D909-7E53-A5F1A7EE6627}"/>
              </a:ext>
            </a:extLst>
          </p:cNvPr>
          <p:cNvSpPr/>
          <p:nvPr/>
        </p:nvSpPr>
        <p:spPr>
          <a:xfrm>
            <a:off x="3400467" y="2584445"/>
            <a:ext cx="708090" cy="262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Card Tag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2E00DD2-55D9-9EE1-02FF-AF010D08CEF1}"/>
              </a:ext>
            </a:extLst>
          </p:cNvPr>
          <p:cNvCxnSpPr>
            <a:cxnSpLocks/>
          </p:cNvCxnSpPr>
          <p:nvPr/>
        </p:nvCxnSpPr>
        <p:spPr>
          <a:xfrm flipV="1">
            <a:off x="5909180" y="3500586"/>
            <a:ext cx="1774882" cy="124110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D5051776-E0D3-4D6B-EB73-AEF93265A9D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95817" y="3829790"/>
            <a:ext cx="1774882" cy="1241105"/>
          </a:xfrm>
          <a:prstGeom prst="bentConnector3">
            <a:avLst>
              <a:gd name="adj1" fmla="val 356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561BC8-E81C-092D-A1D5-D02895892479}"/>
              </a:ext>
            </a:extLst>
          </p:cNvPr>
          <p:cNvSpPr/>
          <p:nvPr/>
        </p:nvSpPr>
        <p:spPr>
          <a:xfrm>
            <a:off x="4308572" y="4162713"/>
            <a:ext cx="1597866" cy="14962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(Browser Extension)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71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개발 범위 및 정의기능</a:t>
            </a:r>
            <a:endParaRPr lang="en-US" altLang="ko-KR" dirty="0"/>
          </a:p>
          <a:p>
            <a:pPr lvl="1"/>
            <a:r>
              <a:rPr lang="ko-KR" altLang="en-US" dirty="0"/>
              <a:t>특정 컬럼에 대한 컨디션으로 호출 할 수 있도록 파라미터 개발필요</a:t>
            </a:r>
            <a:endParaRPr lang="en-US" altLang="ko-KR" dirty="0"/>
          </a:p>
          <a:p>
            <a:pPr lvl="2"/>
            <a:r>
              <a:rPr lang="en-US" altLang="ko-KR" dirty="0"/>
              <a:t>ex) EMPLOYEE_NUMBER = CP001234</a:t>
            </a:r>
          </a:p>
          <a:p>
            <a:pPr lvl="1"/>
            <a:r>
              <a:rPr lang="ko-KR" altLang="en-US" dirty="0"/>
              <a:t>리턴 받을 컬럼을 지정할 수 있도록 파라미터 개발 필요</a:t>
            </a:r>
            <a:endParaRPr lang="en-US" altLang="ko-KR" dirty="0"/>
          </a:p>
          <a:p>
            <a:pPr lvl="1"/>
            <a:r>
              <a:rPr lang="ko-KR" altLang="en-US" dirty="0" err="1"/>
              <a:t>사원증</a:t>
            </a:r>
            <a:r>
              <a:rPr lang="ko-KR" altLang="en-US" dirty="0"/>
              <a:t> </a:t>
            </a:r>
            <a:r>
              <a:rPr lang="en-US" altLang="ko-KR" dirty="0"/>
              <a:t>Tagging </a:t>
            </a:r>
            <a:r>
              <a:rPr lang="ko-KR" altLang="en-US" dirty="0"/>
              <a:t>기능 개발필요</a:t>
            </a:r>
          </a:p>
          <a:p>
            <a:r>
              <a:rPr lang="ko-KR" altLang="en-US" dirty="0"/>
              <a:t>서버 환경</a:t>
            </a:r>
            <a:endParaRPr lang="en-US" altLang="ko-KR" dirty="0"/>
          </a:p>
          <a:p>
            <a:pPr lvl="1"/>
            <a:r>
              <a:rPr lang="en-US" altLang="ko-KR" dirty="0"/>
              <a:t>API </a:t>
            </a:r>
            <a:r>
              <a:rPr lang="ko-KR" altLang="en-US" dirty="0"/>
              <a:t>서버</a:t>
            </a:r>
            <a:r>
              <a:rPr lang="en-US" altLang="ko-KR" dirty="0"/>
              <a:t>: </a:t>
            </a:r>
            <a:r>
              <a:rPr lang="ko-KR" altLang="en-US" dirty="0" err="1"/>
              <a:t>쿠박스</a:t>
            </a:r>
            <a:r>
              <a:rPr lang="ko-KR" altLang="en-US" dirty="0"/>
              <a:t> 시스템에서 구동</a:t>
            </a:r>
            <a:endParaRPr lang="en-US" altLang="ko-KR" dirty="0"/>
          </a:p>
          <a:p>
            <a:pPr lvl="2"/>
            <a:r>
              <a:rPr lang="en-US" altLang="ko-KR" dirty="0"/>
              <a:t>OS: Windows Server 2022 Standard</a:t>
            </a:r>
          </a:p>
          <a:p>
            <a:pPr lvl="2"/>
            <a:r>
              <a:rPr lang="en-US" altLang="ko-KR" dirty="0"/>
              <a:t>IP: 10.50.120.146</a:t>
            </a:r>
          </a:p>
          <a:p>
            <a:pPr lvl="2"/>
            <a:r>
              <a:rPr lang="en-US" altLang="ko-KR" dirty="0"/>
              <a:t>Port: 3010</a:t>
            </a:r>
          </a:p>
          <a:p>
            <a:pPr lvl="1"/>
            <a:r>
              <a:rPr lang="en-US" altLang="ko-KR" dirty="0"/>
              <a:t>Database </a:t>
            </a:r>
            <a:r>
              <a:rPr lang="ko-KR" altLang="en-US" dirty="0"/>
              <a:t>서버</a:t>
            </a:r>
            <a:r>
              <a:rPr lang="en-US" altLang="ko-KR" dirty="0"/>
              <a:t>: </a:t>
            </a:r>
            <a:r>
              <a:rPr lang="ko-KR" altLang="en-US" dirty="0" err="1"/>
              <a:t>쿠박스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 활용</a:t>
            </a:r>
            <a:endParaRPr lang="en-US" altLang="ko-KR" dirty="0"/>
          </a:p>
          <a:p>
            <a:pPr lvl="2"/>
            <a:r>
              <a:rPr lang="ko-KR" altLang="en-US" dirty="0"/>
              <a:t>종류</a:t>
            </a:r>
            <a:r>
              <a:rPr lang="en-US" altLang="ko-KR" dirty="0"/>
              <a:t>: MySQL</a:t>
            </a:r>
          </a:p>
          <a:p>
            <a:pPr lvl="2"/>
            <a:r>
              <a:rPr lang="en-US" altLang="ko-KR" dirty="0"/>
              <a:t>IP:</a:t>
            </a:r>
            <a:r>
              <a:rPr lang="ko-KR" altLang="en-US" dirty="0"/>
              <a:t> </a:t>
            </a:r>
            <a:r>
              <a:rPr lang="en-US" altLang="ko-KR" dirty="0"/>
              <a:t>10.50.150.146</a:t>
            </a:r>
          </a:p>
          <a:p>
            <a:pPr lvl="2"/>
            <a:r>
              <a:rPr lang="en-US" altLang="ko-KR" dirty="0"/>
              <a:t>Port: 33306</a:t>
            </a:r>
          </a:p>
          <a:p>
            <a:pPr lvl="1"/>
            <a:r>
              <a:rPr lang="en-US" altLang="ko-KR" dirty="0"/>
              <a:t>URL</a:t>
            </a:r>
          </a:p>
          <a:p>
            <a:pPr lvl="2"/>
            <a:r>
              <a:rPr lang="en-US" altLang="ko-KR" dirty="0"/>
              <a:t>dev: http://10.50.130.39:9001/</a:t>
            </a:r>
          </a:p>
          <a:p>
            <a:pPr lvl="2"/>
            <a:r>
              <a:rPr lang="en-US" altLang="ko-KR" dirty="0"/>
              <a:t>prod: https://coubox.coupang.com:3010/</a:t>
            </a:r>
          </a:p>
          <a:p>
            <a:r>
              <a:rPr lang="en-US" altLang="ko-KR" dirty="0"/>
              <a:t>Agent </a:t>
            </a:r>
            <a:r>
              <a:rPr lang="ko-KR" altLang="en-US" dirty="0"/>
              <a:t>환경</a:t>
            </a:r>
            <a:endParaRPr lang="en-US" altLang="ko-KR" dirty="0"/>
          </a:p>
          <a:p>
            <a:pPr lvl="1"/>
            <a:r>
              <a:rPr lang="en-US" altLang="ko-KR" dirty="0"/>
              <a:t>OS: Windows 11</a:t>
            </a:r>
          </a:p>
        </p:txBody>
      </p:sp>
    </p:spTree>
    <p:extLst>
      <p:ext uri="{BB962C8B-B14F-4D97-AF65-F5344CB8AC3E}">
        <p14:creationId xmlns:p14="http://schemas.microsoft.com/office/powerpoint/2010/main" val="324567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개발방안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서비스나우에서</a:t>
            </a:r>
            <a:r>
              <a:rPr lang="ko-KR" altLang="en-US" dirty="0"/>
              <a:t> </a:t>
            </a:r>
            <a:r>
              <a:rPr lang="en-US" altLang="ko-KR" dirty="0"/>
              <a:t>Public </a:t>
            </a:r>
            <a:r>
              <a:rPr lang="ko-KR" altLang="en-US" dirty="0"/>
              <a:t>도메인을 통한 직접호출 방안과 </a:t>
            </a:r>
            <a:r>
              <a:rPr lang="en-US" altLang="ko-KR" dirty="0"/>
              <a:t>Agent</a:t>
            </a:r>
            <a:r>
              <a:rPr lang="ko-KR" altLang="en-US" dirty="0"/>
              <a:t>를 활용하는 방안 </a:t>
            </a:r>
            <a:r>
              <a:rPr lang="en-US" altLang="ko-KR" dirty="0"/>
              <a:t>2</a:t>
            </a:r>
            <a:r>
              <a:rPr lang="ko-KR" altLang="en-US" dirty="0"/>
              <a:t>가지 동시 처리 가능하도록 </a:t>
            </a:r>
            <a:r>
              <a:rPr lang="en-US" altLang="ko-KR" dirty="0"/>
              <a:t>Walk-Up API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1"/>
            <a:r>
              <a:rPr lang="ko-KR" altLang="en-US" dirty="0" err="1"/>
              <a:t>서비스나우</a:t>
            </a:r>
            <a:r>
              <a:rPr lang="ko-KR" altLang="en-US" dirty="0"/>
              <a:t> </a:t>
            </a:r>
            <a:r>
              <a:rPr lang="en-US" altLang="ko-KR" dirty="0"/>
              <a:t>-&gt; Walk-Up API </a:t>
            </a:r>
            <a:r>
              <a:rPr lang="ko-KR" altLang="en-US" dirty="0"/>
              <a:t>직접호출</a:t>
            </a:r>
            <a:endParaRPr lang="en-US" altLang="ko-KR" dirty="0"/>
          </a:p>
          <a:p>
            <a:pPr lvl="2"/>
            <a:r>
              <a:rPr lang="ko-KR" altLang="en-US" dirty="0"/>
              <a:t>외부 </a:t>
            </a:r>
            <a:r>
              <a:rPr lang="en-US" altLang="ko-KR" dirty="0"/>
              <a:t>-&gt; </a:t>
            </a:r>
            <a:r>
              <a:rPr lang="ko-KR" altLang="en-US" dirty="0"/>
              <a:t>내부 접근 가능한 </a:t>
            </a:r>
            <a:r>
              <a:rPr lang="en-US" altLang="ko-KR" dirty="0"/>
              <a:t>Public </a:t>
            </a:r>
            <a:r>
              <a:rPr lang="ko-KR" altLang="en-US" dirty="0"/>
              <a:t>도메인을 활용</a:t>
            </a:r>
            <a:endParaRPr lang="en-US" altLang="ko-KR" dirty="0"/>
          </a:p>
          <a:p>
            <a:pPr lvl="1"/>
            <a:r>
              <a:rPr lang="ko-KR" altLang="en-US" dirty="0" err="1"/>
              <a:t>서비스나우</a:t>
            </a:r>
            <a:r>
              <a:rPr lang="ko-KR" altLang="en-US" dirty="0"/>
              <a:t> </a:t>
            </a:r>
            <a:r>
              <a:rPr lang="en-US" altLang="ko-KR" dirty="0"/>
              <a:t>&lt;- Agent -&gt; Walk-Up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간접호출</a:t>
            </a:r>
            <a:endParaRPr lang="en-US" altLang="ko-KR" dirty="0"/>
          </a:p>
          <a:p>
            <a:pPr lvl="2"/>
            <a:r>
              <a:rPr lang="ko-KR" altLang="en-US" dirty="0"/>
              <a:t>보안 및 절차적 이슈로 외부 </a:t>
            </a:r>
            <a:r>
              <a:rPr lang="en-US" altLang="ko-KR" dirty="0"/>
              <a:t>-&gt; </a:t>
            </a:r>
            <a:r>
              <a:rPr lang="ko-KR" altLang="en-US" dirty="0"/>
              <a:t>내부 접근 가능한 </a:t>
            </a:r>
            <a:r>
              <a:rPr lang="en-US" altLang="ko-KR" dirty="0"/>
              <a:t>Public </a:t>
            </a:r>
            <a:r>
              <a:rPr lang="ko-KR" altLang="en-US" dirty="0"/>
              <a:t>도메인을 활용하지 못하는 경우 활용</a:t>
            </a:r>
            <a:endParaRPr lang="en-US" altLang="ko-KR" dirty="0"/>
          </a:p>
          <a:p>
            <a:pPr lvl="2"/>
            <a:r>
              <a:rPr lang="en-US" altLang="ko-KR" dirty="0"/>
              <a:t>Browser Extension</a:t>
            </a:r>
            <a:r>
              <a:rPr lang="ko-KR" altLang="en-US" dirty="0"/>
              <a:t>을 통해 </a:t>
            </a:r>
            <a:r>
              <a:rPr lang="en-US" altLang="ko-KR" dirty="0"/>
              <a:t>Agent </a:t>
            </a:r>
            <a:r>
              <a:rPr lang="ko-KR" altLang="en-US" dirty="0"/>
              <a:t>구현</a:t>
            </a:r>
            <a:endParaRPr lang="en-US" altLang="ko-KR" dirty="0"/>
          </a:p>
          <a:p>
            <a:pPr lvl="3"/>
            <a:r>
              <a:rPr lang="ko-KR" altLang="en-US" dirty="0"/>
              <a:t>신분증 </a:t>
            </a:r>
            <a:r>
              <a:rPr lang="en-US" altLang="ko-KR" dirty="0"/>
              <a:t>Tagging </a:t>
            </a:r>
            <a:r>
              <a:rPr lang="ko-KR" altLang="en-US" dirty="0"/>
              <a:t>값을 </a:t>
            </a:r>
            <a:r>
              <a:rPr lang="en-US" altLang="ko-KR" dirty="0"/>
              <a:t>Browser</a:t>
            </a:r>
            <a:r>
              <a:rPr lang="ko-KR" altLang="en-US" dirty="0"/>
              <a:t>의 </a:t>
            </a:r>
            <a:r>
              <a:rPr lang="ko-KR" altLang="en-US" dirty="0" err="1"/>
              <a:t>서비스나우</a:t>
            </a:r>
            <a:r>
              <a:rPr lang="ko-KR" altLang="en-US" dirty="0"/>
              <a:t> 화면 커서위치에 입력되지 않고 읽어오도록 처리</a:t>
            </a:r>
            <a:endParaRPr lang="en-US" altLang="ko-KR" dirty="0"/>
          </a:p>
          <a:p>
            <a:pPr lvl="3"/>
            <a:r>
              <a:rPr lang="ko-KR" altLang="en-US" dirty="0"/>
              <a:t>신분증 </a:t>
            </a:r>
            <a:r>
              <a:rPr lang="en-US" altLang="ko-KR" dirty="0"/>
              <a:t>Tagging </a:t>
            </a:r>
            <a:r>
              <a:rPr lang="ko-KR" altLang="en-US" dirty="0"/>
              <a:t>값을 통해 </a:t>
            </a:r>
            <a:r>
              <a:rPr lang="en-US" altLang="ko-KR" dirty="0"/>
              <a:t>Walk-Up API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호출하고 결과 수신</a:t>
            </a:r>
            <a:endParaRPr lang="en-US" altLang="ko-KR" dirty="0"/>
          </a:p>
          <a:p>
            <a:pPr lvl="3"/>
            <a:r>
              <a:rPr lang="en-US" altLang="ko-KR" dirty="0"/>
              <a:t>Walk-Up API</a:t>
            </a:r>
            <a:r>
              <a:rPr lang="ko-KR" altLang="en-US" dirty="0"/>
              <a:t>에서 수신한 결과를 </a:t>
            </a:r>
            <a:r>
              <a:rPr lang="en-US" altLang="ko-KR" dirty="0"/>
              <a:t>Browser</a:t>
            </a:r>
            <a:r>
              <a:rPr lang="ko-KR" altLang="en-US" dirty="0"/>
              <a:t>의 </a:t>
            </a:r>
            <a:r>
              <a:rPr lang="ko-KR" altLang="en-US" dirty="0" err="1"/>
              <a:t>서비스나우</a:t>
            </a:r>
            <a:r>
              <a:rPr lang="ko-KR" altLang="en-US" dirty="0"/>
              <a:t> 화면 커서위치에 입력처리</a:t>
            </a:r>
            <a:endParaRPr lang="en-US" altLang="ko-KR" dirty="0"/>
          </a:p>
          <a:p>
            <a:pPr lvl="4"/>
            <a:r>
              <a:rPr lang="ko-KR" altLang="en-US" dirty="0"/>
              <a:t>양식</a:t>
            </a:r>
            <a:r>
              <a:rPr lang="en-US" altLang="ko-KR" dirty="0"/>
              <a:t>: { “</a:t>
            </a:r>
            <a:r>
              <a:rPr lang="en-US" altLang="ko-KR" dirty="0" err="1"/>
              <a:t>employee_no</a:t>
            </a:r>
            <a:r>
              <a:rPr lang="en-US" altLang="ko-KR"/>
              <a:t>”: </a:t>
            </a:r>
            <a:r>
              <a:rPr lang="en-US" altLang="ko-KR" dirty="0"/>
              <a:t>“12345” }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931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인증방안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토큰 종류 및 구성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 dirty="0"/>
              <a:t>인증 방법</a:t>
            </a:r>
            <a:r>
              <a:rPr lang="en-US" altLang="ko-KR" dirty="0"/>
              <a:t>: Bearer </a:t>
            </a:r>
            <a:r>
              <a:rPr lang="ko-KR" altLang="en-US" dirty="0"/>
              <a:t>토큰을 사용하여 인증진행</a:t>
            </a:r>
            <a:endParaRPr lang="en-US" altLang="ko-KR" dirty="0"/>
          </a:p>
          <a:p>
            <a:r>
              <a:rPr lang="ko-KR" altLang="en-US" dirty="0"/>
              <a:t>생성 토큰 종류</a:t>
            </a:r>
            <a:endParaRPr lang="en-US" altLang="ko-KR" dirty="0"/>
          </a:p>
          <a:p>
            <a:pPr lvl="1"/>
            <a:r>
              <a:rPr lang="ko-KR" altLang="en-US" dirty="0"/>
              <a:t>토큰은 </a:t>
            </a:r>
            <a:r>
              <a:rPr lang="en-US" altLang="ko-KR" dirty="0"/>
              <a:t>Admin </a:t>
            </a:r>
            <a:r>
              <a:rPr lang="ko-KR" altLang="en-US" dirty="0"/>
              <a:t>토큰과 사용자 토큰으로 구분</a:t>
            </a:r>
            <a:endParaRPr lang="en-US" altLang="ko-KR" dirty="0"/>
          </a:p>
          <a:p>
            <a:pPr lvl="2"/>
            <a:r>
              <a:rPr lang="en-US" altLang="ko-KR" dirty="0"/>
              <a:t>Admin </a:t>
            </a:r>
            <a:r>
              <a:rPr lang="ko-KR" altLang="en-US" dirty="0"/>
              <a:t>토큰</a:t>
            </a:r>
            <a:r>
              <a:rPr lang="en-US" altLang="ko-KR" dirty="0"/>
              <a:t>: </a:t>
            </a:r>
            <a:r>
              <a:rPr lang="ko-KR" altLang="en-US" dirty="0" err="1"/>
              <a:t>미리생성</a:t>
            </a:r>
            <a:r>
              <a:rPr lang="ko-KR" altLang="en-US" dirty="0"/>
              <a:t> 된 토큰으로 만료기간 없음</a:t>
            </a:r>
            <a:r>
              <a:rPr lang="en-US" altLang="ko-KR" dirty="0"/>
              <a:t>(</a:t>
            </a:r>
            <a:r>
              <a:rPr lang="ko-KR" altLang="en-US" dirty="0"/>
              <a:t>사전제공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사용자 토큰</a:t>
            </a:r>
            <a:r>
              <a:rPr lang="en-US" altLang="ko-KR" dirty="0"/>
              <a:t>: Admin </a:t>
            </a:r>
            <a:r>
              <a:rPr lang="ko-KR" altLang="en-US" dirty="0"/>
              <a:t>토큰을 사용하여 토큰 생성 </a:t>
            </a:r>
            <a:r>
              <a:rPr lang="en-US" altLang="ko-KR" dirty="0"/>
              <a:t>API</a:t>
            </a:r>
            <a:r>
              <a:rPr lang="ko-KR" altLang="en-US" dirty="0"/>
              <a:t>를 통해 생성</a:t>
            </a:r>
            <a:endParaRPr lang="en-US" altLang="ko-KR" dirty="0"/>
          </a:p>
          <a:p>
            <a:r>
              <a:rPr lang="ko-KR" altLang="en-US" dirty="0"/>
              <a:t>토큰 생성 </a:t>
            </a:r>
            <a:r>
              <a:rPr lang="en-US" altLang="ko-KR" dirty="0"/>
              <a:t>API</a:t>
            </a:r>
          </a:p>
          <a:p>
            <a:pPr lvl="1"/>
            <a:r>
              <a:rPr lang="ko-KR" altLang="en-US" dirty="0"/>
              <a:t>경로 및 방식</a:t>
            </a:r>
            <a:r>
              <a:rPr lang="en-US" altLang="ko-KR" dirty="0"/>
              <a:t>: POST </a:t>
            </a:r>
            <a:r>
              <a:rPr lang="ko-KR" altLang="en-US" dirty="0" err="1"/>
              <a:t>쿠박스</a:t>
            </a:r>
            <a:r>
              <a:rPr lang="en-US" altLang="ko-KR" dirty="0"/>
              <a:t>URL/</a:t>
            </a:r>
            <a:r>
              <a:rPr lang="en-US" altLang="ko-KR" dirty="0" err="1"/>
              <a:t>api</a:t>
            </a:r>
            <a:r>
              <a:rPr lang="en-US" altLang="ko-KR" dirty="0"/>
              <a:t>/auth/</a:t>
            </a:r>
            <a:r>
              <a:rPr lang="en-US" altLang="ko-KR" dirty="0" err="1"/>
              <a:t>createToken</a:t>
            </a:r>
            <a:endParaRPr lang="en-US" altLang="ko-KR" dirty="0"/>
          </a:p>
          <a:p>
            <a:pPr lvl="1"/>
            <a:r>
              <a:rPr lang="ko-KR" altLang="en-US" dirty="0"/>
              <a:t>데이터 전송방식</a:t>
            </a:r>
            <a:r>
              <a:rPr lang="en-US" altLang="ko-KR" dirty="0"/>
              <a:t>: JSON</a:t>
            </a:r>
          </a:p>
          <a:p>
            <a:pPr lvl="2"/>
            <a:r>
              <a:rPr lang="ko-KR" altLang="en-US" dirty="0"/>
              <a:t>요청</a:t>
            </a:r>
            <a:r>
              <a:rPr lang="en-US" altLang="ko-KR" dirty="0"/>
              <a:t> </a:t>
            </a:r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“target”: “</a:t>
            </a:r>
            <a:r>
              <a:rPr lang="en-US" altLang="ko-KR" dirty="0" err="1"/>
              <a:t>abcd</a:t>
            </a:r>
            <a:r>
              <a:rPr lang="en-US" altLang="ko-KR" dirty="0"/>
              <a:t>”			---------</a:t>
            </a:r>
            <a:r>
              <a:rPr lang="en-US" altLang="ko-KR" dirty="0">
                <a:sym typeface="Wingdings" panose="05000000000000000000" pitchFamily="2" charset="2"/>
              </a:rPr>
              <a:t> string value(</a:t>
            </a:r>
            <a:r>
              <a:rPr lang="ko-KR" altLang="en-US" dirty="0">
                <a:sym typeface="Wingdings" panose="05000000000000000000" pitchFamily="2" charset="2"/>
              </a:rPr>
              <a:t>사용자명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	“creator”: “</a:t>
            </a:r>
            <a:r>
              <a:rPr lang="en-US" altLang="ko-KR" dirty="0" err="1"/>
              <a:t>hong</a:t>
            </a:r>
            <a:r>
              <a:rPr lang="en-US" altLang="ko-KR" dirty="0"/>
              <a:t>”		---------</a:t>
            </a:r>
            <a:r>
              <a:rPr lang="en-US" altLang="ko-KR" dirty="0">
                <a:sym typeface="Wingdings" panose="05000000000000000000" pitchFamily="2" charset="2"/>
              </a:rPr>
              <a:t> string value(</a:t>
            </a:r>
            <a:r>
              <a:rPr lang="ko-KR" altLang="en-US" dirty="0">
                <a:sym typeface="Wingdings" panose="05000000000000000000" pitchFamily="2" charset="2"/>
              </a:rPr>
              <a:t>생성자명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“</a:t>
            </a:r>
            <a:r>
              <a:rPr lang="en-US" altLang="ko-KR" dirty="0" err="1">
                <a:sym typeface="Wingdings" panose="05000000000000000000" pitchFamily="2" charset="2"/>
              </a:rPr>
              <a:t>end_time</a:t>
            </a:r>
            <a:r>
              <a:rPr lang="en-US" altLang="ko-KR" dirty="0">
                <a:sym typeface="Wingdings" panose="05000000000000000000" pitchFamily="2" charset="2"/>
              </a:rPr>
              <a:t>“: “</a:t>
            </a:r>
            <a:r>
              <a:rPr lang="en-US" altLang="ko-KR" dirty="0"/>
              <a:t>2023-09-19 20:27:00</a:t>
            </a:r>
            <a:r>
              <a:rPr lang="en-US" altLang="ko-KR" dirty="0">
                <a:sym typeface="Wingdings" panose="05000000000000000000" pitchFamily="2" charset="2"/>
              </a:rPr>
              <a:t>”	--------- </a:t>
            </a:r>
            <a:r>
              <a:rPr lang="en-US" altLang="ko-KR" dirty="0" err="1">
                <a:sym typeface="Wingdings" panose="05000000000000000000" pitchFamily="2" charset="2"/>
              </a:rPr>
              <a:t>date_time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토큰만료시간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“lang”: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“ko”			--------- string value(</a:t>
            </a:r>
            <a:r>
              <a:rPr lang="ko-KR" altLang="en-US" dirty="0">
                <a:sym typeface="Wingdings" panose="05000000000000000000" pitchFamily="2" charset="2"/>
              </a:rPr>
              <a:t>언어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}</a:t>
            </a:r>
          </a:p>
          <a:p>
            <a:pPr lvl="2"/>
            <a:r>
              <a:rPr lang="ko-KR" altLang="en-US" dirty="0"/>
              <a:t>응답</a:t>
            </a:r>
            <a:r>
              <a:rPr lang="en-US" altLang="ko-KR" dirty="0"/>
              <a:t>: </a:t>
            </a:r>
            <a:r>
              <a:rPr lang="ko-KR" altLang="en-US" dirty="0" err="1"/>
              <a:t>생성토큰</a:t>
            </a:r>
            <a:r>
              <a:rPr lang="ko-KR" altLang="en-US" dirty="0"/>
              <a:t> 값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“success”: true			---------</a:t>
            </a:r>
            <a:r>
              <a:rPr lang="en-US" altLang="ko-KR" dirty="0">
                <a:sym typeface="Wingdings" panose="05000000000000000000" pitchFamily="2" charset="2"/>
              </a:rPr>
              <a:t> string result(true: </a:t>
            </a:r>
            <a:r>
              <a:rPr lang="ko-KR" altLang="en-US" dirty="0">
                <a:sym typeface="Wingdings" panose="05000000000000000000" pitchFamily="2" charset="2"/>
              </a:rPr>
              <a:t>성공</a:t>
            </a:r>
            <a:r>
              <a:rPr lang="en-US" altLang="ko-KR" dirty="0">
                <a:sym typeface="Wingdings" panose="05000000000000000000" pitchFamily="2" charset="2"/>
              </a:rPr>
              <a:t>, false: </a:t>
            </a:r>
            <a:r>
              <a:rPr lang="ko-KR" altLang="en-US" dirty="0">
                <a:sym typeface="Wingdings" panose="05000000000000000000" pitchFamily="2" charset="2"/>
              </a:rPr>
              <a:t>실패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	“token”: “ABCDEFGHIJKLMNOP”	---------</a:t>
            </a:r>
            <a:r>
              <a:rPr lang="en-US" altLang="ko-KR" dirty="0">
                <a:sym typeface="Wingdings" panose="05000000000000000000" pitchFamily="2" charset="2"/>
              </a:rPr>
              <a:t> 16 string token value</a:t>
            </a:r>
          </a:p>
          <a:p>
            <a:pPr marL="1371600" lvl="3" indent="0">
              <a:buNone/>
            </a:pPr>
            <a:r>
              <a:rPr lang="en-US" altLang="ko-KR" dirty="0"/>
              <a:t>}</a:t>
            </a:r>
          </a:p>
          <a:p>
            <a:pPr lvl="1"/>
            <a:r>
              <a:rPr lang="ko-KR" altLang="en-US" dirty="0"/>
              <a:t>생성방법</a:t>
            </a:r>
            <a:r>
              <a:rPr lang="en-US" altLang="ko-KR" dirty="0"/>
              <a:t>: 16</a:t>
            </a:r>
            <a:r>
              <a:rPr lang="ko-KR" altLang="en-US" dirty="0"/>
              <a:t>자리 </a:t>
            </a:r>
            <a:r>
              <a:rPr lang="en-US" altLang="ko-KR" dirty="0"/>
              <a:t>String</a:t>
            </a:r>
            <a:r>
              <a:rPr lang="ko-KR" altLang="en-US" dirty="0"/>
              <a:t>을 랜덤하게 생성</a:t>
            </a:r>
          </a:p>
        </p:txBody>
      </p:sp>
    </p:spTree>
    <p:extLst>
      <p:ext uri="{BB962C8B-B14F-4D97-AF65-F5344CB8AC3E}">
        <p14:creationId xmlns:p14="http://schemas.microsoft.com/office/powerpoint/2010/main" val="337497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인증방안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토큰 종류 및 구성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토큰 만료일 갱신 </a:t>
            </a:r>
            <a:r>
              <a:rPr lang="en-US" altLang="ko-KR" dirty="0"/>
              <a:t>API</a:t>
            </a:r>
          </a:p>
          <a:p>
            <a:pPr lvl="1"/>
            <a:r>
              <a:rPr lang="ko-KR" altLang="en-US" dirty="0"/>
              <a:t>경로 및 방식</a:t>
            </a:r>
            <a:r>
              <a:rPr lang="en-US" altLang="ko-KR" dirty="0"/>
              <a:t>: POST </a:t>
            </a:r>
            <a:r>
              <a:rPr lang="ko-KR" altLang="en-US" dirty="0" err="1"/>
              <a:t>쿠박스</a:t>
            </a:r>
            <a:r>
              <a:rPr lang="en-US" altLang="ko-KR" dirty="0"/>
              <a:t>URL/</a:t>
            </a:r>
            <a:r>
              <a:rPr lang="en-US" altLang="ko-KR" dirty="0" err="1"/>
              <a:t>api</a:t>
            </a:r>
            <a:r>
              <a:rPr lang="en-US" altLang="ko-KR" dirty="0"/>
              <a:t>/auth/</a:t>
            </a:r>
            <a:r>
              <a:rPr lang="en-US" altLang="ko-KR" dirty="0" err="1"/>
              <a:t>updateToken</a:t>
            </a:r>
            <a:endParaRPr lang="en-US" altLang="ko-KR" dirty="0"/>
          </a:p>
          <a:p>
            <a:pPr lvl="1"/>
            <a:r>
              <a:rPr lang="ko-KR" altLang="en-US" dirty="0"/>
              <a:t>데이터 전송방식</a:t>
            </a:r>
            <a:r>
              <a:rPr lang="en-US" altLang="ko-KR" dirty="0"/>
              <a:t>: JSON</a:t>
            </a:r>
          </a:p>
          <a:p>
            <a:pPr lvl="2"/>
            <a:r>
              <a:rPr lang="ko-KR" altLang="en-US" dirty="0"/>
              <a:t>요청</a:t>
            </a:r>
            <a:r>
              <a:rPr lang="en-US" altLang="ko-KR" dirty="0"/>
              <a:t> </a:t>
            </a:r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“token”: “ABCDEFGHIJKLMNOP”	---------</a:t>
            </a:r>
            <a:r>
              <a:rPr lang="en-US" altLang="ko-KR" dirty="0">
                <a:sym typeface="Wingdings" panose="05000000000000000000" pitchFamily="2" charset="2"/>
              </a:rPr>
              <a:t> string value(</a:t>
            </a:r>
            <a:r>
              <a:rPr lang="ko-KR" altLang="en-US" dirty="0">
                <a:sym typeface="Wingdings" panose="05000000000000000000" pitchFamily="2" charset="2"/>
              </a:rPr>
              <a:t>토큰 값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“</a:t>
            </a:r>
            <a:r>
              <a:rPr lang="en-US" altLang="ko-KR" dirty="0" err="1">
                <a:sym typeface="Wingdings" panose="05000000000000000000" pitchFamily="2" charset="2"/>
              </a:rPr>
              <a:t>end_time</a:t>
            </a:r>
            <a:r>
              <a:rPr lang="en-US" altLang="ko-KR" dirty="0">
                <a:sym typeface="Wingdings" panose="05000000000000000000" pitchFamily="2" charset="2"/>
              </a:rPr>
              <a:t>“: “</a:t>
            </a:r>
            <a:r>
              <a:rPr lang="en-US" altLang="ko-KR" dirty="0"/>
              <a:t>2023-09-19 20:27:00</a:t>
            </a:r>
            <a:r>
              <a:rPr lang="en-US" altLang="ko-KR" dirty="0">
                <a:sym typeface="Wingdings" panose="05000000000000000000" pitchFamily="2" charset="2"/>
              </a:rPr>
              <a:t>”	--------- </a:t>
            </a:r>
            <a:r>
              <a:rPr lang="en-US" altLang="ko-KR" dirty="0" err="1">
                <a:sym typeface="Wingdings" panose="05000000000000000000" pitchFamily="2" charset="2"/>
              </a:rPr>
              <a:t>date_time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토큰만료시간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 “lang”: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“ko”			--------- string value(</a:t>
            </a:r>
            <a:r>
              <a:rPr lang="ko-KR" altLang="en-US" dirty="0">
                <a:sym typeface="Wingdings" panose="05000000000000000000" pitchFamily="2" charset="2"/>
              </a:rPr>
              <a:t>언어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}</a:t>
            </a:r>
          </a:p>
          <a:p>
            <a:pPr lvl="2"/>
            <a:r>
              <a:rPr lang="ko-KR" altLang="en-US" dirty="0"/>
              <a:t>응답</a:t>
            </a:r>
            <a:r>
              <a:rPr lang="en-US" altLang="ko-KR" dirty="0"/>
              <a:t>: </a:t>
            </a:r>
            <a:r>
              <a:rPr lang="ko-KR" altLang="en-US" dirty="0"/>
              <a:t>성공여부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“success”: true			---------</a:t>
            </a:r>
            <a:r>
              <a:rPr lang="en-US" altLang="ko-KR" dirty="0">
                <a:sym typeface="Wingdings" panose="05000000000000000000" pitchFamily="2" charset="2"/>
              </a:rPr>
              <a:t> string result(true: </a:t>
            </a:r>
            <a:r>
              <a:rPr lang="ko-KR" altLang="en-US" dirty="0">
                <a:sym typeface="Wingdings" panose="05000000000000000000" pitchFamily="2" charset="2"/>
              </a:rPr>
              <a:t>성공</a:t>
            </a:r>
            <a:r>
              <a:rPr lang="en-US" altLang="ko-KR" dirty="0">
                <a:sym typeface="Wingdings" panose="05000000000000000000" pitchFamily="2" charset="2"/>
              </a:rPr>
              <a:t>, false: </a:t>
            </a:r>
            <a:r>
              <a:rPr lang="ko-KR" altLang="en-US" dirty="0">
                <a:sym typeface="Wingdings" panose="05000000000000000000" pitchFamily="2" charset="2"/>
              </a:rPr>
              <a:t>실패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7202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인증방안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토큰 종류 및 구성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토큰조회 </a:t>
            </a:r>
            <a:r>
              <a:rPr lang="en-US" altLang="ko-KR" dirty="0"/>
              <a:t>API</a:t>
            </a:r>
          </a:p>
          <a:p>
            <a:pPr lvl="1"/>
            <a:r>
              <a:rPr lang="ko-KR" altLang="en-US" dirty="0"/>
              <a:t>경로 및 방식</a:t>
            </a:r>
            <a:r>
              <a:rPr lang="en-US" altLang="ko-KR" dirty="0"/>
              <a:t>: POST </a:t>
            </a:r>
            <a:r>
              <a:rPr lang="ko-KR" altLang="en-US" dirty="0" err="1"/>
              <a:t>쿠박스</a:t>
            </a:r>
            <a:r>
              <a:rPr lang="en-US" altLang="ko-KR" dirty="0"/>
              <a:t>URL/</a:t>
            </a:r>
            <a:r>
              <a:rPr lang="en-US" altLang="ko-KR" dirty="0" err="1"/>
              <a:t>api</a:t>
            </a:r>
            <a:r>
              <a:rPr lang="en-US" altLang="ko-KR" dirty="0"/>
              <a:t>/auth/</a:t>
            </a:r>
            <a:r>
              <a:rPr lang="en-US" altLang="ko-KR" dirty="0" err="1"/>
              <a:t>listTokens</a:t>
            </a:r>
            <a:endParaRPr lang="en-US" altLang="ko-KR" dirty="0"/>
          </a:p>
          <a:p>
            <a:pPr lvl="1"/>
            <a:r>
              <a:rPr lang="ko-KR" altLang="en-US" dirty="0"/>
              <a:t>데이터 전송방식</a:t>
            </a:r>
            <a:r>
              <a:rPr lang="en-US" altLang="ko-KR" dirty="0"/>
              <a:t>: JSON</a:t>
            </a:r>
          </a:p>
          <a:p>
            <a:pPr lvl="2"/>
            <a:r>
              <a:rPr lang="ko-KR" altLang="en-US" dirty="0"/>
              <a:t>요청</a:t>
            </a:r>
            <a:r>
              <a:rPr lang="en-US" altLang="ko-KR" dirty="0"/>
              <a:t>: </a:t>
            </a:r>
            <a:r>
              <a:rPr lang="ko-KR" altLang="en-US" dirty="0" err="1">
                <a:solidFill>
                  <a:srgbClr val="FF0000"/>
                </a:solidFill>
              </a:rPr>
              <a:t>입력값</a:t>
            </a:r>
            <a:r>
              <a:rPr lang="ko-KR" altLang="en-US" dirty="0">
                <a:solidFill>
                  <a:srgbClr val="FF0000"/>
                </a:solidFill>
              </a:rPr>
              <a:t> 없음</a:t>
            </a:r>
            <a:endParaRPr lang="en-US" altLang="ko-KR" dirty="0">
              <a:solidFill>
                <a:srgbClr val="FF0000"/>
              </a:solidFill>
            </a:endParaRPr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 “lang”: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“ko”			--------- string value(</a:t>
            </a:r>
            <a:r>
              <a:rPr lang="ko-KR" altLang="en-US" dirty="0">
                <a:sym typeface="Wingdings" panose="05000000000000000000" pitchFamily="2" charset="2"/>
              </a:rPr>
              <a:t>언어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}</a:t>
            </a:r>
            <a:endParaRPr lang="en-US" altLang="ko-KR" dirty="0"/>
          </a:p>
          <a:p>
            <a:pPr lvl="2"/>
            <a:r>
              <a:rPr lang="ko-KR" altLang="en-US" dirty="0"/>
              <a:t>응답</a:t>
            </a:r>
            <a:r>
              <a:rPr lang="en-US" altLang="ko-KR" dirty="0"/>
              <a:t>: </a:t>
            </a:r>
            <a:r>
              <a:rPr lang="ko-KR" altLang="en-US" dirty="0"/>
              <a:t>저장된 토큰 리스트</a:t>
            </a:r>
            <a:endParaRPr lang="en-US" altLang="ko-KR" dirty="0"/>
          </a:p>
          <a:p>
            <a:pPr marL="1371600" lvl="3" indent="0">
              <a:buNone/>
            </a:pPr>
            <a:r>
              <a:rPr lang="en-US" altLang="ko-KR" dirty="0"/>
              <a:t>{</a:t>
            </a:r>
          </a:p>
          <a:p>
            <a:pPr marL="1371600" lvl="3" indent="0">
              <a:buNone/>
            </a:pPr>
            <a:r>
              <a:rPr lang="en-US" altLang="ko-KR" dirty="0"/>
              <a:t>	“success”: true			---------</a:t>
            </a:r>
            <a:r>
              <a:rPr lang="en-US" altLang="ko-KR" dirty="0">
                <a:sym typeface="Wingdings" panose="05000000000000000000" pitchFamily="2" charset="2"/>
              </a:rPr>
              <a:t> string result(true: </a:t>
            </a:r>
            <a:r>
              <a:rPr lang="ko-KR" altLang="en-US" dirty="0">
                <a:sym typeface="Wingdings" panose="05000000000000000000" pitchFamily="2" charset="2"/>
              </a:rPr>
              <a:t>성공</a:t>
            </a:r>
            <a:r>
              <a:rPr lang="en-US" altLang="ko-KR" dirty="0">
                <a:sym typeface="Wingdings" panose="05000000000000000000" pitchFamily="2" charset="2"/>
              </a:rPr>
              <a:t>, false: </a:t>
            </a:r>
            <a:r>
              <a:rPr lang="ko-KR" altLang="en-US" dirty="0">
                <a:sym typeface="Wingdings" panose="05000000000000000000" pitchFamily="2" charset="2"/>
              </a:rPr>
              <a:t>실패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1371600" lvl="3" indent="0">
              <a:buNone/>
            </a:pPr>
            <a:r>
              <a:rPr lang="en-US" altLang="ko-KR" dirty="0"/>
              <a:t>	“tokens”: [</a:t>
            </a:r>
          </a:p>
          <a:p>
            <a:pPr marL="1371600" lvl="3" indent="0">
              <a:buNone/>
            </a:pPr>
            <a:r>
              <a:rPr lang="en-US" altLang="ko-KR" dirty="0"/>
              <a:t>		{“</a:t>
            </a:r>
            <a:r>
              <a:rPr lang="en-US" altLang="ko-KR" dirty="0" err="1"/>
              <a:t>token_value”:”ABCDEFGHIJKLMNOP</a:t>
            </a:r>
            <a:r>
              <a:rPr lang="en-US" altLang="ko-KR" dirty="0"/>
              <a:t>”, “</a:t>
            </a:r>
            <a:r>
              <a:rPr lang="en-US" altLang="ko-KR" dirty="0" err="1"/>
              <a:t>creator”:”admin</a:t>
            </a:r>
            <a:r>
              <a:rPr lang="en-US" altLang="ko-KR" dirty="0"/>
              <a:t>”, “target”:”</a:t>
            </a:r>
            <a:r>
              <a:rPr lang="en-US" altLang="ko-KR" dirty="0" err="1"/>
              <a:t>test_token</a:t>
            </a:r>
            <a:r>
              <a:rPr lang="en-US" altLang="ko-KR" dirty="0"/>
              <a:t>”, “endtime”:”2025-10-13T00:30:00.000Z”, “token_type”:1},</a:t>
            </a:r>
          </a:p>
          <a:p>
            <a:pPr marL="1371600" lvl="3" indent="0">
              <a:buNone/>
            </a:pPr>
            <a:r>
              <a:rPr lang="en-US" altLang="ko-KR" dirty="0"/>
              <a:t>		{“token_value”:”ABCDEFGHIJKL1234”, “creator”:””, “</a:t>
            </a:r>
            <a:r>
              <a:rPr lang="en-US" altLang="ko-KR" dirty="0" err="1"/>
              <a:t>target”:”admin</a:t>
            </a:r>
            <a:r>
              <a:rPr lang="en-US" altLang="ko-KR" dirty="0"/>
              <a:t>”, “</a:t>
            </a:r>
            <a:r>
              <a:rPr lang="en-US" altLang="ko-KR" dirty="0" err="1"/>
              <a:t>endtime</a:t>
            </a:r>
            <a:r>
              <a:rPr lang="en-US" altLang="ko-KR" dirty="0"/>
              <a:t>”:null, “token_type”:0}</a:t>
            </a:r>
          </a:p>
          <a:p>
            <a:pPr marL="1371600" lvl="3" indent="0">
              <a:buNone/>
            </a:pPr>
            <a:r>
              <a:rPr lang="en-US" altLang="ko-KR" dirty="0"/>
              <a:t>…</a:t>
            </a:r>
          </a:p>
          <a:p>
            <a:pPr marL="1371600" lvl="3" indent="0">
              <a:buNone/>
            </a:pPr>
            <a:r>
              <a:rPr lang="en-US" altLang="ko-KR" dirty="0"/>
              <a:t>	]</a:t>
            </a:r>
          </a:p>
          <a:p>
            <a:pPr marL="1371600" lvl="3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76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인증방안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토큰 응답 실패 및 에러종류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데이터 전송방식</a:t>
            </a:r>
            <a:r>
              <a:rPr lang="en-US" altLang="ko-KR" dirty="0"/>
              <a:t>: JSON</a:t>
            </a:r>
          </a:p>
          <a:p>
            <a:pPr lvl="1"/>
            <a:r>
              <a:rPr lang="ko-KR" altLang="en-US" dirty="0"/>
              <a:t>실패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{</a:t>
            </a:r>
          </a:p>
          <a:p>
            <a:pPr marL="457200" lvl="1" indent="0">
              <a:buNone/>
            </a:pPr>
            <a:r>
              <a:rPr lang="en-US" altLang="ko-KR" dirty="0"/>
              <a:t>	“success”: false,</a:t>
            </a:r>
          </a:p>
          <a:p>
            <a:pPr marL="457200" lvl="1" indent="0">
              <a:buNone/>
            </a:pPr>
            <a:r>
              <a:rPr lang="en-US" altLang="ko-KR" dirty="0"/>
              <a:t>	“message”: “</a:t>
            </a:r>
            <a:r>
              <a:rPr lang="ko-KR" altLang="en-US" dirty="0"/>
              <a:t>서버 오류가 발생했습니다</a:t>
            </a:r>
            <a:r>
              <a:rPr lang="en-US" altLang="ko-KR" dirty="0"/>
              <a:t>.” 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  <a:p>
            <a:r>
              <a:rPr lang="ko-KR" altLang="en-US" dirty="0"/>
              <a:t>에러종류</a:t>
            </a:r>
            <a:endParaRPr lang="en-US" altLang="ko-KR" dirty="0"/>
          </a:p>
          <a:p>
            <a:pPr lvl="1"/>
            <a:r>
              <a:rPr lang="ko-KR" altLang="en-US" dirty="0"/>
              <a:t>권한이 없을 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401</a:t>
            </a:r>
          </a:p>
          <a:p>
            <a:pPr lvl="2"/>
            <a:r>
              <a:rPr lang="en-US" altLang="ko-KR" dirty="0"/>
              <a:t>“message”:”</a:t>
            </a:r>
            <a:r>
              <a:rPr lang="ko-KR" altLang="en-US" dirty="0"/>
              <a:t>인증에 실패했습니다</a:t>
            </a:r>
            <a:r>
              <a:rPr lang="en-US" altLang="ko-KR" dirty="0"/>
              <a:t>.”</a:t>
            </a:r>
          </a:p>
          <a:p>
            <a:pPr lvl="1"/>
            <a:r>
              <a:rPr lang="en-US" altLang="ko-KR" dirty="0"/>
              <a:t>Admin </a:t>
            </a:r>
            <a:r>
              <a:rPr lang="ko-KR" altLang="en-US" dirty="0"/>
              <a:t>토큰이</a:t>
            </a:r>
            <a:r>
              <a:rPr lang="en-US" altLang="ko-KR" dirty="0"/>
              <a:t> </a:t>
            </a:r>
            <a:r>
              <a:rPr lang="ko-KR" altLang="en-US" dirty="0"/>
              <a:t>올바르지 </a:t>
            </a:r>
            <a:r>
              <a:rPr lang="ko-KR" altLang="en-US" dirty="0" err="1"/>
              <a:t>않을때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statusCode</a:t>
            </a:r>
            <a:r>
              <a:rPr lang="ko-KR" altLang="en-US" dirty="0"/>
              <a:t> </a:t>
            </a:r>
            <a:r>
              <a:rPr lang="en-US" altLang="ko-KR" dirty="0"/>
              <a:t>403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인증하지 못하였습니다</a:t>
            </a:r>
            <a:r>
              <a:rPr lang="en-US" altLang="ko-KR" dirty="0"/>
              <a:t>.”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작업이 실패했을 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500</a:t>
            </a:r>
          </a:p>
          <a:p>
            <a:pPr lvl="2"/>
            <a:r>
              <a:rPr lang="en-US" altLang="ko-KR" dirty="0"/>
              <a:t>“message”: “DB </a:t>
            </a:r>
            <a:r>
              <a:rPr lang="ko-KR" altLang="en-US" dirty="0"/>
              <a:t>에러가 발생했습니다</a:t>
            </a:r>
            <a:r>
              <a:rPr lang="en-US" altLang="ko-K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87374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서버 인증방안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토큰 관리 및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서버 토큰 관리</a:t>
            </a:r>
            <a:r>
              <a:rPr lang="en-US" altLang="ko-KR" dirty="0"/>
              <a:t>: </a:t>
            </a:r>
            <a:r>
              <a:rPr lang="ko-KR" altLang="en-US" dirty="0" err="1"/>
              <a:t>쿠박스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에 </a:t>
            </a:r>
            <a:r>
              <a:rPr lang="ko-KR" altLang="en-US" dirty="0" err="1"/>
              <a:t>토큰값</a:t>
            </a:r>
            <a:r>
              <a:rPr lang="ko-KR" altLang="en-US" dirty="0"/>
              <a:t> 저장을 위한 </a:t>
            </a:r>
            <a:r>
              <a:rPr lang="en-US" altLang="ko-KR" dirty="0"/>
              <a:t>Table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en-US" altLang="ko-KR" dirty="0"/>
              <a:t>Admin </a:t>
            </a:r>
            <a:r>
              <a:rPr lang="ko-KR" altLang="en-US" dirty="0"/>
              <a:t>토큰</a:t>
            </a:r>
            <a:r>
              <a:rPr lang="en-US" altLang="ko-KR" dirty="0"/>
              <a:t>: </a:t>
            </a:r>
            <a:r>
              <a:rPr lang="ko-KR" altLang="en-US" dirty="0"/>
              <a:t>미리 생성되어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r>
              <a:rPr lang="en-US" altLang="ko-KR" dirty="0"/>
              <a:t>(</a:t>
            </a:r>
            <a:r>
              <a:rPr lang="ko-KR" altLang="en-US" dirty="0"/>
              <a:t>토큰생성 </a:t>
            </a:r>
            <a:r>
              <a:rPr lang="en-US" altLang="ko-KR" dirty="0"/>
              <a:t>API</a:t>
            </a:r>
            <a:r>
              <a:rPr lang="ko-KR" altLang="en-US" dirty="0"/>
              <a:t>를 통해 최초 </a:t>
            </a:r>
            <a:r>
              <a:rPr lang="en-US" altLang="ko-KR" dirty="0"/>
              <a:t>1</a:t>
            </a:r>
            <a:r>
              <a:rPr lang="ko-KR" altLang="en-US" dirty="0"/>
              <a:t>회 실행하여 지정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사용자 토큰</a:t>
            </a:r>
            <a:r>
              <a:rPr lang="en-US" altLang="ko-KR" dirty="0"/>
              <a:t>: </a:t>
            </a:r>
            <a:r>
              <a:rPr lang="ko-KR" altLang="en-US" dirty="0"/>
              <a:t>토큰생성 </a:t>
            </a:r>
            <a:r>
              <a:rPr lang="en-US" altLang="ko-KR" dirty="0"/>
              <a:t>API </a:t>
            </a:r>
            <a:r>
              <a:rPr lang="ko-KR" altLang="en-US" dirty="0"/>
              <a:t>호출 시 생성된 토큰을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1"/>
            <a:r>
              <a:rPr lang="ko-KR" altLang="en-US" dirty="0"/>
              <a:t>만료 토큰</a:t>
            </a:r>
            <a:r>
              <a:rPr lang="en-US" altLang="ko-KR" dirty="0"/>
              <a:t>: </a:t>
            </a:r>
            <a:r>
              <a:rPr lang="ko-KR" altLang="en-US" dirty="0"/>
              <a:t>토큰생성 </a:t>
            </a:r>
            <a:r>
              <a:rPr lang="en-US" altLang="ko-KR" dirty="0"/>
              <a:t>API </a:t>
            </a:r>
            <a:r>
              <a:rPr lang="ko-KR" altLang="en-US" dirty="0"/>
              <a:t>호출 시 </a:t>
            </a:r>
            <a:r>
              <a:rPr lang="en-US" altLang="ko-KR" dirty="0"/>
              <a:t>DB</a:t>
            </a:r>
            <a:r>
              <a:rPr lang="ko-KR" altLang="en-US" dirty="0"/>
              <a:t>에서 만료된 토큰 제거</a:t>
            </a:r>
            <a:endParaRPr lang="en-US" altLang="ko-KR" dirty="0"/>
          </a:p>
          <a:p>
            <a:pPr lvl="1"/>
            <a:r>
              <a:rPr lang="en-US" altLang="ko-KR" dirty="0"/>
              <a:t>Table</a:t>
            </a:r>
            <a:r>
              <a:rPr lang="ko-KR" altLang="en-US" dirty="0"/>
              <a:t> 명</a:t>
            </a:r>
            <a:r>
              <a:rPr lang="en-US" altLang="ko-KR" dirty="0"/>
              <a:t>: </a:t>
            </a:r>
            <a:r>
              <a:rPr lang="en-US" altLang="ko-KR" dirty="0" err="1"/>
              <a:t>tblToken</a:t>
            </a:r>
            <a:endParaRPr lang="en-US" altLang="ko-KR" dirty="0"/>
          </a:p>
          <a:p>
            <a:pPr lvl="1"/>
            <a:r>
              <a:rPr lang="ko-KR" altLang="en-US" dirty="0"/>
              <a:t>구성내용</a:t>
            </a:r>
            <a:endParaRPr lang="en-US" altLang="ko-KR" dirty="0"/>
          </a:p>
          <a:p>
            <a:pPr lvl="2"/>
            <a:r>
              <a:rPr lang="en-US" altLang="ko-KR" dirty="0"/>
              <a:t>target: string(</a:t>
            </a:r>
            <a:r>
              <a:rPr lang="ko-KR" altLang="en-US" dirty="0"/>
              <a:t>사용자명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creator: string(</a:t>
            </a:r>
            <a:r>
              <a:rPr lang="ko-KR" altLang="en-US" dirty="0"/>
              <a:t>생성자명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token_value</a:t>
            </a:r>
            <a:r>
              <a:rPr lang="en-US" altLang="ko-KR" dirty="0"/>
              <a:t>: string(</a:t>
            </a:r>
            <a:r>
              <a:rPr lang="ko-KR" altLang="en-US" dirty="0"/>
              <a:t>토큰 값</a:t>
            </a:r>
            <a:r>
              <a:rPr lang="en-US" altLang="ko-KR" dirty="0"/>
              <a:t>: 16</a:t>
            </a:r>
            <a:r>
              <a:rPr lang="ko-KR" altLang="en-US" dirty="0"/>
              <a:t>자리 랜덤생성 값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token_type</a:t>
            </a:r>
            <a:r>
              <a:rPr lang="en-US" altLang="ko-KR" dirty="0"/>
              <a:t>: tiny int(</a:t>
            </a:r>
            <a:r>
              <a:rPr lang="ko-KR" altLang="en-US" dirty="0"/>
              <a:t>토큰종류</a:t>
            </a:r>
            <a:r>
              <a:rPr lang="en-US" altLang="ko-KR" dirty="0"/>
              <a:t> - 0: Admin, 1: </a:t>
            </a:r>
            <a:r>
              <a:rPr lang="ko-KR" altLang="en-US" dirty="0"/>
              <a:t>사용자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endtime</a:t>
            </a:r>
            <a:r>
              <a:rPr lang="en-US" altLang="ko-KR" dirty="0"/>
              <a:t>: </a:t>
            </a:r>
            <a:r>
              <a:rPr lang="en-US" altLang="ko-KR" dirty="0" err="1"/>
              <a:t>date_time</a:t>
            </a:r>
            <a:r>
              <a:rPr lang="en-US" altLang="ko-KR" dirty="0"/>
              <a:t>(</a:t>
            </a:r>
            <a:r>
              <a:rPr lang="ko-KR" altLang="en-US" dirty="0"/>
              <a:t>토큰만료시간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토큰 사용</a:t>
            </a:r>
            <a:endParaRPr lang="en-US" altLang="ko-KR" dirty="0"/>
          </a:p>
          <a:p>
            <a:pPr lvl="1"/>
            <a:r>
              <a:rPr lang="en-US" altLang="ko-KR" dirty="0"/>
              <a:t>Http </a:t>
            </a:r>
            <a:r>
              <a:rPr lang="ko-KR" altLang="en-US" dirty="0"/>
              <a:t>요청 시 </a:t>
            </a:r>
            <a:r>
              <a:rPr lang="en-US" altLang="ko-KR" dirty="0"/>
              <a:t>Request Header</a:t>
            </a:r>
            <a:r>
              <a:rPr lang="ko-KR" altLang="en-US" dirty="0"/>
              <a:t>의</a:t>
            </a:r>
            <a:r>
              <a:rPr lang="en-US" altLang="ko-KR" dirty="0"/>
              <a:t> Authorization </a:t>
            </a:r>
            <a:r>
              <a:rPr lang="ko-KR" altLang="en-US" dirty="0"/>
              <a:t>값 설정</a:t>
            </a:r>
            <a:endParaRPr lang="en-US" altLang="ko-KR" dirty="0"/>
          </a:p>
          <a:p>
            <a:pPr lvl="2"/>
            <a:r>
              <a:rPr lang="en-US" altLang="ko-KR" dirty="0"/>
              <a:t>“Bearer ${token}”</a:t>
            </a:r>
          </a:p>
          <a:p>
            <a:pPr lvl="1"/>
            <a:r>
              <a:rPr lang="en-US" altLang="ko-KR" dirty="0"/>
              <a:t>Walk-Up API </a:t>
            </a:r>
            <a:r>
              <a:rPr lang="ko-KR" altLang="en-US" dirty="0"/>
              <a:t>서버는 입력된 토큰 값이 유효한지 </a:t>
            </a:r>
            <a:r>
              <a:rPr lang="en-US" altLang="ko-KR" dirty="0"/>
              <a:t>DB</a:t>
            </a:r>
            <a:r>
              <a:rPr lang="ko-KR" altLang="en-US" dirty="0"/>
              <a:t>에서 확인하여 유효한 경우 </a:t>
            </a:r>
            <a:r>
              <a:rPr lang="en-US" altLang="ko-KR" dirty="0"/>
              <a:t>API </a:t>
            </a:r>
            <a:r>
              <a:rPr lang="ko-KR" altLang="en-US" dirty="0"/>
              <a:t>기능 수행</a:t>
            </a:r>
            <a:endParaRPr lang="en-US" altLang="ko-KR" dirty="0"/>
          </a:p>
          <a:p>
            <a:pPr lvl="2"/>
            <a:r>
              <a:rPr lang="ko-KR" altLang="en-US" dirty="0"/>
              <a:t>토큰 생성 </a:t>
            </a:r>
            <a:r>
              <a:rPr lang="en-US" altLang="ko-KR" dirty="0"/>
              <a:t>API, Walk-Up API</a:t>
            </a:r>
          </a:p>
          <a:p>
            <a:pPr lvl="1"/>
            <a:r>
              <a:rPr lang="en-US" altLang="ko-KR" dirty="0"/>
              <a:t>Agent </a:t>
            </a:r>
            <a:r>
              <a:rPr lang="ko-KR" altLang="en-US" dirty="0"/>
              <a:t>사용시 확장프로그램 저장소에 </a:t>
            </a:r>
            <a:r>
              <a:rPr lang="ko-KR" altLang="en-US" dirty="0" err="1"/>
              <a:t>토큰값</a:t>
            </a:r>
            <a:r>
              <a:rPr lang="ko-KR" altLang="en-US" dirty="0"/>
              <a:t> 등록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98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</a:t>
            </a:r>
            <a:r>
              <a:rPr lang="ko-KR" altLang="en-US" dirty="0"/>
              <a:t>인증절차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토큰 생성 </a:t>
            </a:r>
            <a:r>
              <a:rPr lang="en-US" altLang="ko-KR" dirty="0"/>
              <a:t>API </a:t>
            </a:r>
            <a:r>
              <a:rPr lang="ko-KR" altLang="en-US" dirty="0"/>
              <a:t>호출</a:t>
            </a:r>
            <a:endParaRPr lang="en-US" altLang="ko-KR" dirty="0"/>
          </a:p>
          <a:p>
            <a:pPr lvl="1"/>
            <a:r>
              <a:rPr lang="ko-KR" altLang="en-US" dirty="0"/>
              <a:t>클라이언트는 토큰 값을 </a:t>
            </a:r>
            <a:r>
              <a:rPr lang="en-US" altLang="ko-KR" dirty="0"/>
              <a:t>Http Request Header Authorization</a:t>
            </a:r>
            <a:r>
              <a:rPr lang="ko-KR" altLang="en-US" dirty="0"/>
              <a:t>에 설정하여 호출</a:t>
            </a:r>
            <a:endParaRPr lang="en-US" altLang="ko-KR" dirty="0"/>
          </a:p>
          <a:p>
            <a:pPr lvl="1"/>
            <a:r>
              <a:rPr lang="ko-KR" altLang="en-US" dirty="0"/>
              <a:t>서버는 입력된 토큰이 </a:t>
            </a:r>
            <a:r>
              <a:rPr lang="en-US" altLang="ko-KR" dirty="0"/>
              <a:t>Admin </a:t>
            </a:r>
            <a:r>
              <a:rPr lang="ko-KR" altLang="en-US" dirty="0"/>
              <a:t>토큰인지 확인</a:t>
            </a:r>
            <a:endParaRPr lang="en-US" altLang="ko-KR" dirty="0"/>
          </a:p>
          <a:p>
            <a:pPr lvl="1"/>
            <a:r>
              <a:rPr lang="ko-KR" altLang="en-US" dirty="0" err="1"/>
              <a:t>성공시</a:t>
            </a:r>
            <a:endParaRPr lang="en-US" altLang="ko-KR" dirty="0"/>
          </a:p>
          <a:p>
            <a:pPr lvl="2"/>
            <a:r>
              <a:rPr lang="ko-KR" altLang="en-US" dirty="0"/>
              <a:t>서버는 토큰 생성 후 </a:t>
            </a:r>
            <a:r>
              <a:rPr lang="en-US" altLang="ko-KR" dirty="0"/>
              <a:t>DB </a:t>
            </a:r>
            <a:r>
              <a:rPr lang="ko-KR" altLang="en-US" dirty="0"/>
              <a:t>저장 및 결과 전송</a:t>
            </a:r>
            <a:endParaRPr lang="en-US" altLang="ko-KR" dirty="0"/>
          </a:p>
          <a:p>
            <a:pPr lvl="1"/>
            <a:r>
              <a:rPr lang="ko-KR" altLang="en-US" dirty="0" err="1"/>
              <a:t>실패시</a:t>
            </a:r>
            <a:endParaRPr lang="en-US" altLang="ko-KR" dirty="0"/>
          </a:p>
          <a:p>
            <a:pPr lvl="2"/>
            <a:r>
              <a:rPr lang="ko-KR" altLang="en-US" dirty="0"/>
              <a:t>서버는 에러결과를 전송</a:t>
            </a:r>
            <a:endParaRPr lang="en-US" altLang="ko-KR" dirty="0"/>
          </a:p>
          <a:p>
            <a:r>
              <a:rPr lang="en-US" altLang="ko-KR" dirty="0"/>
              <a:t>Walk-Up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호출</a:t>
            </a:r>
            <a:endParaRPr lang="en-US" altLang="ko-KR" dirty="0"/>
          </a:p>
          <a:p>
            <a:pPr lvl="1"/>
            <a:r>
              <a:rPr lang="ko-KR" altLang="en-US" dirty="0"/>
              <a:t>클라이언트는 토큰 값을 </a:t>
            </a:r>
            <a:r>
              <a:rPr lang="en-US" altLang="ko-KR" dirty="0"/>
              <a:t>Http Request Header Authorization</a:t>
            </a:r>
            <a:r>
              <a:rPr lang="ko-KR" altLang="en-US" dirty="0"/>
              <a:t>에 설정하여 호출</a:t>
            </a:r>
            <a:endParaRPr lang="en-US" altLang="ko-KR" dirty="0"/>
          </a:p>
          <a:p>
            <a:pPr lvl="1"/>
            <a:r>
              <a:rPr lang="ko-KR" altLang="en-US" dirty="0"/>
              <a:t>서버는 입력된 토큰이 유효한 토큰</a:t>
            </a:r>
            <a:r>
              <a:rPr lang="en-US" altLang="ko-KR" dirty="0"/>
              <a:t>(</a:t>
            </a:r>
            <a:r>
              <a:rPr lang="ko-KR" altLang="en-US" dirty="0"/>
              <a:t>토큰 값 확인 및 기간확인</a:t>
            </a:r>
            <a:r>
              <a:rPr lang="en-US" altLang="ko-KR" dirty="0"/>
              <a:t>)</a:t>
            </a:r>
            <a:r>
              <a:rPr lang="ko-KR" altLang="en-US" dirty="0"/>
              <a:t>인지 확인</a:t>
            </a:r>
            <a:endParaRPr lang="en-US" altLang="ko-KR" dirty="0"/>
          </a:p>
          <a:p>
            <a:pPr lvl="1"/>
            <a:r>
              <a:rPr lang="ko-KR" altLang="en-US" dirty="0" err="1"/>
              <a:t>성공시</a:t>
            </a:r>
            <a:endParaRPr lang="en-US" altLang="ko-KR" dirty="0"/>
          </a:p>
          <a:p>
            <a:pPr lvl="2"/>
            <a:r>
              <a:rPr lang="ko-KR" altLang="en-US" dirty="0"/>
              <a:t>서버는 </a:t>
            </a:r>
            <a:r>
              <a:rPr lang="en-US" altLang="ko-KR" dirty="0"/>
              <a:t>API</a:t>
            </a:r>
            <a:r>
              <a:rPr lang="ko-KR" altLang="en-US" dirty="0"/>
              <a:t> 결과 전송</a:t>
            </a:r>
            <a:endParaRPr lang="en-US" altLang="ko-KR" dirty="0"/>
          </a:p>
          <a:p>
            <a:pPr lvl="1"/>
            <a:r>
              <a:rPr lang="ko-KR" altLang="en-US" dirty="0" err="1"/>
              <a:t>실패시</a:t>
            </a:r>
            <a:endParaRPr lang="en-US" altLang="ko-KR" dirty="0"/>
          </a:p>
          <a:p>
            <a:pPr lvl="2"/>
            <a:r>
              <a:rPr lang="ko-KR" altLang="en-US" dirty="0"/>
              <a:t>서버는 에러결과를 전송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867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데이터 구성</a:t>
            </a:r>
            <a:r>
              <a:rPr lang="en-US" altLang="ko-KR" dirty="0"/>
              <a:t>(</a:t>
            </a:r>
            <a:r>
              <a:rPr lang="ko-KR" altLang="en-US" dirty="0"/>
              <a:t>요청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ko-KR" altLang="en-US" dirty="0"/>
              <a:t>경로 및 방식</a:t>
            </a:r>
            <a:r>
              <a:rPr lang="en-US" altLang="ko-KR" dirty="0"/>
              <a:t>: POST </a:t>
            </a:r>
            <a:r>
              <a:rPr lang="ko-KR" altLang="en-US" dirty="0" err="1"/>
              <a:t>쿠박스</a:t>
            </a:r>
            <a:r>
              <a:rPr lang="en-US" altLang="ko-KR" dirty="0"/>
              <a:t>URL/</a:t>
            </a:r>
            <a:r>
              <a:rPr lang="en-US" altLang="ko-KR" dirty="0" err="1"/>
              <a:t>api</a:t>
            </a:r>
            <a:r>
              <a:rPr lang="en-US" altLang="ko-KR" dirty="0"/>
              <a:t>/employees/search</a:t>
            </a:r>
          </a:p>
          <a:p>
            <a:r>
              <a:rPr lang="ko-KR" altLang="en-US" dirty="0"/>
              <a:t>데이터전송 방식</a:t>
            </a:r>
            <a:r>
              <a:rPr lang="en-US" altLang="ko-KR" dirty="0"/>
              <a:t>: JSON</a:t>
            </a:r>
          </a:p>
          <a:p>
            <a:pPr lvl="1"/>
            <a:r>
              <a:rPr lang="ko-KR" altLang="en-US" dirty="0"/>
              <a:t>요청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{</a:t>
            </a:r>
          </a:p>
          <a:p>
            <a:pPr marL="457200" lvl="1" indent="0">
              <a:buNone/>
            </a:pPr>
            <a:r>
              <a:rPr lang="en-US" altLang="ko-KR" dirty="0"/>
              <a:t>	“conditions”: {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searchTerm</a:t>
            </a:r>
            <a:r>
              <a:rPr lang="en-US" altLang="ko-KR" dirty="0"/>
              <a:t>”: “123”,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is_active</a:t>
            </a:r>
            <a:r>
              <a:rPr lang="en-US" altLang="ko-KR" dirty="0"/>
              <a:t>”: 1,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batch_status</a:t>
            </a:r>
            <a:r>
              <a:rPr lang="en-US" altLang="ko-KR" dirty="0"/>
              <a:t>”: “ok”</a:t>
            </a:r>
          </a:p>
          <a:p>
            <a:pPr marL="457200" lvl="1" indent="0">
              <a:buNone/>
            </a:pPr>
            <a:r>
              <a:rPr lang="en-US" altLang="ko-KR" dirty="0"/>
              <a:t>	},</a:t>
            </a:r>
          </a:p>
          <a:p>
            <a:pPr marL="457200" lvl="1" indent="0">
              <a:buNone/>
            </a:pPr>
            <a:r>
              <a:rPr lang="en-US" altLang="ko-KR" dirty="0"/>
              <a:t>	“fields”: [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employee_no</a:t>
            </a:r>
            <a:r>
              <a:rPr lang="en-US" altLang="ko-KR" dirty="0"/>
              <a:t>”,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card_id</a:t>
            </a:r>
            <a:r>
              <a:rPr lang="en-US" altLang="ko-KR" dirty="0"/>
              <a:t>”,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is_active</a:t>
            </a:r>
            <a:r>
              <a:rPr lang="en-US" altLang="ko-KR" dirty="0"/>
              <a:t>”,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created_on</a:t>
            </a:r>
            <a:r>
              <a:rPr lang="en-US" altLang="ko-KR" dirty="0"/>
              <a:t>”</a:t>
            </a:r>
          </a:p>
          <a:p>
            <a:pPr marL="457200" lvl="1" indent="0">
              <a:buNone/>
            </a:pPr>
            <a:r>
              <a:rPr lang="en-US" altLang="ko-KR" dirty="0"/>
              <a:t>	],</a:t>
            </a:r>
          </a:p>
          <a:p>
            <a:pPr marL="457200" lvl="1" indent="0">
              <a:buNone/>
            </a:pPr>
            <a:r>
              <a:rPr lang="en-US" altLang="ko-KR" dirty="0"/>
              <a:t>	“</a:t>
            </a:r>
            <a:r>
              <a:rPr lang="en-US" altLang="ko-KR" dirty="0" err="1"/>
              <a:t>lang”:”ko</a:t>
            </a:r>
            <a:r>
              <a:rPr lang="en-US" altLang="ko-KR" dirty="0"/>
              <a:t>”,</a:t>
            </a:r>
          </a:p>
          <a:p>
            <a:pPr marL="457200" lvl="1" indent="0">
              <a:buNone/>
            </a:pPr>
            <a:r>
              <a:rPr lang="en-US" altLang="ko-KR" dirty="0"/>
              <a:t>	“pagination”: {</a:t>
            </a:r>
          </a:p>
          <a:p>
            <a:pPr marL="457200" lvl="1" indent="0">
              <a:buNone/>
            </a:pPr>
            <a:r>
              <a:rPr lang="en-US" altLang="ko-KR" dirty="0"/>
              <a:t>		“page”: 1,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pageSize</a:t>
            </a:r>
            <a:r>
              <a:rPr lang="en-US" altLang="ko-KR" dirty="0"/>
              <a:t>”: 10</a:t>
            </a:r>
          </a:p>
          <a:p>
            <a:pPr marL="457200" lvl="1" indent="0">
              <a:buNone/>
            </a:pPr>
            <a:r>
              <a:rPr lang="en-US" altLang="ko-KR" dirty="0"/>
              <a:t>	}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337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데이터 구성</a:t>
            </a:r>
            <a:r>
              <a:rPr lang="en-US" altLang="ko-KR" dirty="0"/>
              <a:t>(</a:t>
            </a:r>
            <a:r>
              <a:rPr lang="ko-KR" altLang="en-US" dirty="0"/>
              <a:t>응답</a:t>
            </a:r>
            <a:r>
              <a:rPr lang="en-US" altLang="ko-KR" dirty="0"/>
              <a:t>: 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ko-KR" altLang="en-US" dirty="0"/>
              <a:t>데이터전송 방식</a:t>
            </a:r>
            <a:r>
              <a:rPr lang="en-US" altLang="ko-KR" dirty="0"/>
              <a:t>: JSON</a:t>
            </a:r>
          </a:p>
          <a:p>
            <a:pPr lvl="1"/>
            <a:r>
              <a:rPr lang="ko-KR" altLang="en-US" dirty="0"/>
              <a:t>성공</a:t>
            </a:r>
            <a:r>
              <a:rPr lang="en-US" altLang="ko-KR" dirty="0"/>
              <a:t>(Status 200 OK)</a:t>
            </a:r>
          </a:p>
          <a:p>
            <a:pPr marL="457200" lvl="1" indent="0">
              <a:buNone/>
            </a:pPr>
            <a:r>
              <a:rPr lang="en-US" altLang="ko-KR" dirty="0"/>
              <a:t>{</a:t>
            </a:r>
          </a:p>
          <a:p>
            <a:pPr marL="457200" lvl="1" indent="0">
              <a:buNone/>
            </a:pPr>
            <a:r>
              <a:rPr lang="en-US" altLang="ko-KR" dirty="0"/>
              <a:t>	“success”: true,</a:t>
            </a:r>
          </a:p>
          <a:p>
            <a:pPr marL="457200" lvl="1" indent="0">
              <a:buNone/>
            </a:pPr>
            <a:r>
              <a:rPr lang="en-US" altLang="ko-KR" dirty="0"/>
              <a:t>	“data”: [</a:t>
            </a:r>
          </a:p>
          <a:p>
            <a:pPr marL="457200" lvl="1" indent="0">
              <a:buNone/>
            </a:pPr>
            <a:r>
              <a:rPr lang="en-US" altLang="ko-KR" dirty="0"/>
              <a:t>		{</a:t>
            </a:r>
          </a:p>
          <a:p>
            <a:pPr marL="457200" lvl="1" indent="0">
              <a:buNone/>
            </a:pPr>
            <a:r>
              <a:rPr lang="en-US" altLang="ko-KR" dirty="0"/>
              <a:t>			“</a:t>
            </a:r>
            <a:r>
              <a:rPr lang="en-US" altLang="ko-KR" dirty="0" err="1"/>
              <a:t>employee_no</a:t>
            </a:r>
            <a:r>
              <a:rPr lang="en-US" altLang="ko-KR" dirty="0"/>
              <a:t>”: “12345”,</a:t>
            </a:r>
          </a:p>
          <a:p>
            <a:pPr marL="457200" lvl="1" indent="0">
              <a:buNone/>
            </a:pPr>
            <a:r>
              <a:rPr lang="en-US" altLang="ko-KR" dirty="0"/>
              <a:t>			“</a:t>
            </a:r>
            <a:r>
              <a:rPr lang="en-US" altLang="ko-KR" dirty="0" err="1"/>
              <a:t>card_id</a:t>
            </a:r>
            <a:r>
              <a:rPr lang="en-US" altLang="ko-KR" dirty="0"/>
              <a:t>”: “C12345”,</a:t>
            </a:r>
          </a:p>
          <a:p>
            <a:pPr marL="457200" lvl="1" indent="0">
              <a:buNone/>
            </a:pPr>
            <a:r>
              <a:rPr lang="en-US" altLang="ko-KR" dirty="0"/>
              <a:t>			“</a:t>
            </a:r>
            <a:r>
              <a:rPr lang="en-US" altLang="ko-KR" dirty="0" err="1"/>
              <a:t>is_active</a:t>
            </a:r>
            <a:r>
              <a:rPr lang="en-US" altLang="ko-KR" dirty="0"/>
              <a:t>”: 1,</a:t>
            </a:r>
          </a:p>
          <a:p>
            <a:pPr marL="457200" lvl="1" indent="0">
              <a:buNone/>
            </a:pPr>
            <a:r>
              <a:rPr lang="en-US" altLang="ko-KR" dirty="0"/>
              <a:t>			“</a:t>
            </a:r>
            <a:r>
              <a:rPr lang="en-US" altLang="ko-KR" dirty="0" err="1"/>
              <a:t>created_on</a:t>
            </a:r>
            <a:r>
              <a:rPr lang="en-US" altLang="ko-KR" dirty="0"/>
              <a:t>”: “2023-09-17T10:00:00.000Z”</a:t>
            </a:r>
          </a:p>
          <a:p>
            <a:pPr marL="457200" lvl="1" indent="0">
              <a:buNone/>
            </a:pPr>
            <a:r>
              <a:rPr lang="en-US" altLang="ko-KR" dirty="0"/>
              <a:t>		}</a:t>
            </a:r>
          </a:p>
          <a:p>
            <a:pPr marL="457200" lvl="1" indent="0">
              <a:buNone/>
            </a:pPr>
            <a:r>
              <a:rPr lang="en-US" altLang="ko-KR" dirty="0"/>
              <a:t>	],</a:t>
            </a:r>
          </a:p>
          <a:p>
            <a:pPr marL="457200" lvl="1" indent="0">
              <a:buNone/>
            </a:pPr>
            <a:r>
              <a:rPr lang="en-US" altLang="ko-KR" dirty="0"/>
              <a:t>	“pagination”: {</a:t>
            </a:r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from_data_index_no</a:t>
            </a:r>
            <a:r>
              <a:rPr lang="en-US" altLang="ko-KR" dirty="0"/>
              <a:t>”: 1,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페이지의 시작 데이터 순번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to_data_index_no</a:t>
            </a:r>
            <a:r>
              <a:rPr lang="en-US" altLang="ko-KR" dirty="0"/>
              <a:t>”: 1,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페이지의 마지막 데이터 순번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search_data_count</a:t>
            </a:r>
            <a:r>
              <a:rPr lang="en-US" altLang="ko-KR" dirty="0"/>
              <a:t>”: 1,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페이지에서 반환된 데이터 개수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“page”: 1,	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사용자에게 반환된 페이지 번호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pageSize</a:t>
            </a:r>
            <a:r>
              <a:rPr lang="en-US" altLang="ko-KR" dirty="0"/>
              <a:t>”: 10,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페이지당 데이터 개수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search_total_pages</a:t>
            </a:r>
            <a:r>
              <a:rPr lang="en-US" altLang="ko-KR" dirty="0"/>
              <a:t>”: 1,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검색 조건에 페이지 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“</a:t>
            </a:r>
            <a:r>
              <a:rPr lang="en-US" altLang="ko-KR" dirty="0" err="1"/>
              <a:t>all_data</a:t>
            </a:r>
            <a:r>
              <a:rPr lang="en-US" altLang="ko-KR" dirty="0"/>
              <a:t>”: 1			----------------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검색 조건에 맞는 전체 데이터 개수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}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202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Walk-Up API </a:t>
            </a:r>
            <a:r>
              <a:rPr lang="ko-KR" altLang="en-US" dirty="0"/>
              <a:t>데이터 구성</a:t>
            </a:r>
            <a:r>
              <a:rPr lang="en-US" altLang="ko-KR" dirty="0"/>
              <a:t>(</a:t>
            </a:r>
            <a:r>
              <a:rPr lang="ko-KR" altLang="en-US" dirty="0"/>
              <a:t>응답</a:t>
            </a:r>
            <a:r>
              <a:rPr lang="en-US" altLang="ko-KR" dirty="0"/>
              <a:t>: 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데이터전송 방식</a:t>
            </a:r>
            <a:r>
              <a:rPr lang="en-US" altLang="ko-KR" dirty="0"/>
              <a:t>: JSON</a:t>
            </a:r>
          </a:p>
          <a:p>
            <a:pPr lvl="1"/>
            <a:r>
              <a:rPr lang="ko-KR" altLang="en-US" dirty="0"/>
              <a:t>실패</a:t>
            </a:r>
            <a:r>
              <a:rPr lang="en-US" altLang="ko-KR" dirty="0"/>
              <a:t>(Status 500 Internal Server Error)</a:t>
            </a:r>
          </a:p>
          <a:p>
            <a:pPr marL="457200" lvl="1" indent="0">
              <a:buNone/>
            </a:pPr>
            <a:r>
              <a:rPr lang="en-US" altLang="ko-KR" dirty="0"/>
              <a:t>{</a:t>
            </a:r>
          </a:p>
          <a:p>
            <a:pPr marL="457200" lvl="1" indent="0">
              <a:buNone/>
            </a:pPr>
            <a:r>
              <a:rPr lang="en-US" altLang="ko-KR" dirty="0"/>
              <a:t>	“success”: false,</a:t>
            </a:r>
          </a:p>
          <a:p>
            <a:pPr marL="457200" lvl="1" indent="0">
              <a:buNone/>
            </a:pPr>
            <a:r>
              <a:rPr lang="en-US" altLang="ko-KR" dirty="0"/>
              <a:t>	“message”: “</a:t>
            </a:r>
            <a:r>
              <a:rPr lang="ko-KR" altLang="en-US" dirty="0"/>
              <a:t>서버 오류가 발생했습니다</a:t>
            </a:r>
            <a:r>
              <a:rPr lang="en-US" altLang="ko-KR" dirty="0"/>
              <a:t>.” 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  <a:p>
            <a:r>
              <a:rPr lang="ko-KR" altLang="en-US" dirty="0"/>
              <a:t>에러종류</a:t>
            </a:r>
            <a:endParaRPr lang="en-US" altLang="ko-KR" dirty="0"/>
          </a:p>
          <a:p>
            <a:pPr lvl="1"/>
            <a:r>
              <a:rPr lang="ko-KR" altLang="en-US" dirty="0"/>
              <a:t>서버 내부에서 오류가 발생했을 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500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서버 오류가 발생했습니다</a:t>
            </a:r>
            <a:r>
              <a:rPr lang="en-US" altLang="ko-KR" dirty="0"/>
              <a:t>.”</a:t>
            </a:r>
          </a:p>
          <a:p>
            <a:pPr lvl="1"/>
            <a:r>
              <a:rPr lang="ko-KR" altLang="en-US" dirty="0"/>
              <a:t>잘못된 요청이 왔을 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400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잘못된 요청입니다</a:t>
            </a:r>
            <a:r>
              <a:rPr lang="en-US" altLang="ko-KR" dirty="0"/>
              <a:t>.”</a:t>
            </a:r>
          </a:p>
          <a:p>
            <a:pPr lvl="1"/>
            <a:r>
              <a:rPr lang="ko-KR" altLang="en-US" dirty="0"/>
              <a:t>인증을 </a:t>
            </a:r>
            <a:r>
              <a:rPr lang="ko-KR" altLang="en-US" dirty="0" err="1"/>
              <a:t>실패했을때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401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인증에 실패했습니다</a:t>
            </a:r>
            <a:r>
              <a:rPr lang="en-US" altLang="ko-KR" dirty="0"/>
              <a:t>.”</a:t>
            </a:r>
          </a:p>
          <a:p>
            <a:pPr lvl="1"/>
            <a:r>
              <a:rPr lang="ko-KR" altLang="en-US" dirty="0"/>
              <a:t>접근이 금지되었을 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403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접근이 금지되었습니다</a:t>
            </a:r>
            <a:r>
              <a:rPr lang="en-US" altLang="ko-KR" dirty="0"/>
              <a:t>.”</a:t>
            </a:r>
          </a:p>
          <a:p>
            <a:pPr lvl="1"/>
            <a:r>
              <a:rPr lang="ko-KR" altLang="en-US" dirty="0"/>
              <a:t>존재하지 않는 요청을 </a:t>
            </a:r>
            <a:r>
              <a:rPr lang="ko-KR" altLang="en-US" dirty="0" err="1"/>
              <a:t>했을때</a:t>
            </a:r>
            <a:r>
              <a:rPr lang="en-US" altLang="ko-KR" dirty="0"/>
              <a:t>: </a:t>
            </a:r>
            <a:r>
              <a:rPr lang="en-US" altLang="ko-KR" dirty="0" err="1"/>
              <a:t>statusCode</a:t>
            </a:r>
            <a:r>
              <a:rPr lang="en-US" altLang="ko-KR" dirty="0"/>
              <a:t> 404</a:t>
            </a:r>
          </a:p>
          <a:p>
            <a:pPr lvl="2"/>
            <a:r>
              <a:rPr lang="en-US" altLang="ko-KR" dirty="0"/>
              <a:t>“message”: “</a:t>
            </a:r>
            <a:r>
              <a:rPr lang="ko-KR" altLang="en-US" dirty="0"/>
              <a:t>요청한 리소스를 찾을 수 없습니다</a:t>
            </a:r>
            <a:r>
              <a:rPr lang="en-US" altLang="ko-K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40292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CE6-6DAD-DFB5-A9D2-25F16AE2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B6A55-F448-75D5-A4A3-E9E33BE0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651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1628</Words>
  <Application>Microsoft Office PowerPoint</Application>
  <PresentationFormat>와이드스크린</PresentationFormat>
  <Paragraphs>274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Wingdings</vt:lpstr>
      <vt:lpstr>Office 테마</vt:lpstr>
      <vt:lpstr>쿠팡 Walk-Up 구성 및 논의사항</vt:lpstr>
      <vt:lpstr>쿠박스 시스템 구성</vt:lpstr>
      <vt:lpstr>쿠박스 서버 구성</vt:lpstr>
      <vt:lpstr>Walk-Up 서버 구성 (서비스나우 -&gt; Walk-Up API 서버)</vt:lpstr>
      <vt:lpstr>Walk-Up 서버 구성 (Agent(브라우저 확장프로그램) 이용방안)</vt:lpstr>
      <vt:lpstr>Walk-Up API 서버 구성</vt:lpstr>
      <vt:lpstr>Walk-Up API 서버 개발방안</vt:lpstr>
      <vt:lpstr>Walk-Up API 서버 인증방안  - 토큰 종류 및 구성(1/3)</vt:lpstr>
      <vt:lpstr>Walk-Up API 서버 인증방안  - 토큰 종류 및 구성(2/3)</vt:lpstr>
      <vt:lpstr>Walk-Up API 서버 인증방안  - 토큰 종류 및 구성(3/3)</vt:lpstr>
      <vt:lpstr>Walk-Up API 서버 인증방안  - 토큰 응답 실패 및 에러종류</vt:lpstr>
      <vt:lpstr>Walk-Up API 서버 인증방안  - 토큰 관리 및 사용</vt:lpstr>
      <vt:lpstr>Walk-Up 인증절차</vt:lpstr>
      <vt:lpstr>Walk-Up API 데이터 구성(요청)</vt:lpstr>
      <vt:lpstr>Walk-Up API 데이터 구성(응답: 성공)</vt:lpstr>
      <vt:lpstr>Walk-Up API 데이터 구성(응답: 실패)</vt:lpstr>
      <vt:lpstr>논의사항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 전훈</dc:creator>
  <cp:lastModifiedBy>강 전훈</cp:lastModifiedBy>
  <cp:revision>236</cp:revision>
  <cp:lastPrinted>2025-09-17T05:21:47Z</cp:lastPrinted>
  <dcterms:created xsi:type="dcterms:W3CDTF">2025-09-08T01:57:03Z</dcterms:created>
  <dcterms:modified xsi:type="dcterms:W3CDTF">2025-10-15T04:21:23Z</dcterms:modified>
</cp:coreProperties>
</file>